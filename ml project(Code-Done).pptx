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68" r:id="rId4"/>
    <p:sldId id="269" r:id="rId5"/>
    <p:sldId id="270" r:id="rId6"/>
    <p:sldId id="258" r:id="rId7"/>
    <p:sldId id="271" r:id="rId8"/>
    <p:sldId id="272" r:id="rId9"/>
    <p:sldId id="260" r:id="rId10"/>
    <p:sldId id="261" r:id="rId11"/>
    <p:sldId id="273" r:id="rId12"/>
    <p:sldId id="274" r:id="rId13"/>
    <p:sldId id="262" r:id="rId14"/>
    <p:sldId id="263" r:id="rId15"/>
    <p:sldId id="265" r:id="rId16"/>
    <p:sldId id="267" r:id="rId17"/>
  </p:sldIdLst>
  <p:sldSz cx="18288000" cy="10287000"/>
  <p:notesSz cx="6858000" cy="9144000"/>
  <p:embeddedFontLst>
    <p:embeddedFont>
      <p:font typeface="DM Sans" pitchFamily="2" charset="0"/>
      <p:regular r:id="rId18"/>
      <p:bold r:id="rId19"/>
      <p:italic r:id="rId20"/>
      <p:boldItalic r:id="rId21"/>
    </p:embeddedFont>
    <p:embeddedFont>
      <p:font typeface="DM Sans Bold"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962525" cy="2781300"/>
            <a:chOff x="0" y="0"/>
            <a:chExt cx="6616700" cy="3708400"/>
          </a:xfrm>
        </p:grpSpPr>
        <p:sp>
          <p:nvSpPr>
            <p:cNvPr id="3" name="Freeform 3"/>
            <p:cNvSpPr/>
            <p:nvPr/>
          </p:nvSpPr>
          <p:spPr>
            <a:xfrm>
              <a:off x="0" y="0"/>
              <a:ext cx="6616700" cy="3708400"/>
            </a:xfrm>
            <a:custGeom>
              <a:avLst/>
              <a:gdLst/>
              <a:ahLst/>
              <a:cxnLst/>
              <a:rect l="l" t="t" r="r" b="b"/>
              <a:pathLst>
                <a:path w="6616700" h="3708400">
                  <a:moveTo>
                    <a:pt x="0" y="0"/>
                  </a:moveTo>
                  <a:lnTo>
                    <a:pt x="6616700" y="0"/>
                  </a:lnTo>
                  <a:lnTo>
                    <a:pt x="6616700" y="3708400"/>
                  </a:lnTo>
                  <a:lnTo>
                    <a:pt x="0" y="3708400"/>
                  </a:lnTo>
                  <a:lnTo>
                    <a:pt x="0" y="0"/>
                  </a:lnTo>
                  <a:close/>
                </a:path>
              </a:pathLst>
            </a:custGeom>
            <a:blipFill>
              <a:blip r:embed="rId2"/>
              <a:stretch>
                <a:fillRect l="-1268" t="-2283" r="-75" b="-114"/>
              </a:stretch>
            </a:blipFill>
          </p:spPr>
        </p:sp>
      </p:grpSp>
      <p:grpSp>
        <p:nvGrpSpPr>
          <p:cNvPr id="4" name="Group 4"/>
          <p:cNvGrpSpPr/>
          <p:nvPr/>
        </p:nvGrpSpPr>
        <p:grpSpPr>
          <a:xfrm>
            <a:off x="2333497" y="3137478"/>
            <a:ext cx="15954503" cy="7149522"/>
            <a:chOff x="0" y="0"/>
            <a:chExt cx="21272671" cy="9532696"/>
          </a:xfrm>
        </p:grpSpPr>
        <p:sp>
          <p:nvSpPr>
            <p:cNvPr id="5" name="Freeform 5"/>
            <p:cNvSpPr/>
            <p:nvPr/>
          </p:nvSpPr>
          <p:spPr>
            <a:xfrm>
              <a:off x="0" y="0"/>
              <a:ext cx="21272722" cy="9532747"/>
            </a:xfrm>
            <a:custGeom>
              <a:avLst/>
              <a:gdLst/>
              <a:ahLst/>
              <a:cxnLst/>
              <a:rect l="l" t="t" r="r" b="b"/>
              <a:pathLst>
                <a:path w="21272722" h="9532747">
                  <a:moveTo>
                    <a:pt x="0" y="0"/>
                  </a:moveTo>
                  <a:lnTo>
                    <a:pt x="21272722" y="0"/>
                  </a:lnTo>
                  <a:lnTo>
                    <a:pt x="21272722" y="9532747"/>
                  </a:lnTo>
                  <a:lnTo>
                    <a:pt x="0" y="9532747"/>
                  </a:lnTo>
                  <a:lnTo>
                    <a:pt x="0" y="0"/>
                  </a:lnTo>
                  <a:close/>
                </a:path>
              </a:pathLst>
            </a:custGeom>
            <a:blipFill>
              <a:blip r:embed="rId3"/>
              <a:stretch>
                <a:fillRect l="-1390" r="-2130" b="-1650"/>
              </a:stretch>
            </a:blipFill>
          </p:spPr>
          <p:txBody>
            <a:bodyPr/>
            <a:lstStyle/>
            <a:p>
              <a:endParaRPr lang="en-IN" dirty="0"/>
            </a:p>
          </p:txBody>
        </p:sp>
      </p:grpSp>
      <p:sp>
        <p:nvSpPr>
          <p:cNvPr id="7" name="TextBox 7"/>
          <p:cNvSpPr txBox="1"/>
          <p:nvPr/>
        </p:nvSpPr>
        <p:spPr>
          <a:xfrm>
            <a:off x="3114209" y="4120077"/>
            <a:ext cx="12059582" cy="1966436"/>
          </a:xfrm>
          <a:prstGeom prst="rect">
            <a:avLst/>
          </a:prstGeom>
        </p:spPr>
        <p:txBody>
          <a:bodyPr lIns="0" tIns="0" rIns="0" bIns="0" rtlCol="0" anchor="t">
            <a:spAutoFit/>
          </a:bodyPr>
          <a:lstStyle/>
          <a:p>
            <a:pPr>
              <a:lnSpc>
                <a:spcPts val="7830"/>
              </a:lnSpc>
            </a:pPr>
            <a:r>
              <a:rPr lang="en-US" sz="6000" b="1" dirty="0"/>
              <a:t>Student Performance Prediction Using Machine Learning</a:t>
            </a:r>
            <a:endParaRPr lang="en-US" sz="5592" b="1" dirty="0">
              <a:solidFill>
                <a:srgbClr val="0B1C30"/>
              </a:solidFill>
              <a:latin typeface="DM Sans Bold"/>
              <a:ea typeface="DM Sans Bold"/>
              <a:cs typeface="DM Sans Bold"/>
              <a:sym typeface="DM Sans Bold"/>
            </a:endParaRPr>
          </a:p>
        </p:txBody>
      </p:sp>
      <p:sp>
        <p:nvSpPr>
          <p:cNvPr id="9" name="TextBox 9"/>
          <p:cNvSpPr txBox="1"/>
          <p:nvPr/>
        </p:nvSpPr>
        <p:spPr>
          <a:xfrm>
            <a:off x="5257800" y="7429500"/>
            <a:ext cx="8463730" cy="1814151"/>
          </a:xfrm>
          <a:prstGeom prst="rect">
            <a:avLst/>
          </a:prstGeom>
        </p:spPr>
        <p:txBody>
          <a:bodyPr wrap="square" lIns="0" tIns="0" rIns="0" bIns="0" rtlCol="0" anchor="t">
            <a:spAutoFit/>
          </a:bodyPr>
          <a:lstStyle/>
          <a:p>
            <a:pPr>
              <a:lnSpc>
                <a:spcPts val="4359"/>
              </a:lnSpc>
            </a:pPr>
            <a:r>
              <a:rPr lang="en-US" sz="3500" b="1" dirty="0">
                <a:solidFill>
                  <a:srgbClr val="0B1C30"/>
                </a:solidFill>
                <a:latin typeface="DM Sans Bold"/>
                <a:ea typeface="DM Sans Bold"/>
                <a:cs typeface="DM Sans Bold"/>
                <a:sym typeface="DM Sans Bold"/>
              </a:rPr>
              <a:t> </a:t>
            </a:r>
            <a:r>
              <a:rPr lang="en-US" sz="3500" b="1" dirty="0">
                <a:solidFill>
                  <a:srgbClr val="FF3131"/>
                </a:solidFill>
                <a:latin typeface="DM Sans Bold"/>
                <a:ea typeface="DM Sans Bold"/>
                <a:cs typeface="DM Sans Bold"/>
                <a:sym typeface="DM Sans Bold"/>
              </a:rPr>
              <a:t>43110308</a:t>
            </a:r>
            <a:r>
              <a:rPr lang="en-US" sz="3500" b="1" dirty="0">
                <a:solidFill>
                  <a:srgbClr val="0B1C30"/>
                </a:solidFill>
                <a:latin typeface="DM Sans Bold"/>
                <a:ea typeface="DM Sans Bold"/>
                <a:cs typeface="DM Sans Bold"/>
                <a:sym typeface="DM Sans Bold"/>
              </a:rPr>
              <a:t>   - Harish M Y</a:t>
            </a:r>
          </a:p>
          <a:p>
            <a:pPr>
              <a:lnSpc>
                <a:spcPts val="4359"/>
              </a:lnSpc>
            </a:pPr>
            <a:r>
              <a:rPr lang="en-US" sz="3500" b="1" dirty="0">
                <a:solidFill>
                  <a:srgbClr val="FF3131"/>
                </a:solidFill>
                <a:latin typeface="DM Sans Bold"/>
                <a:ea typeface="DM Sans Bold"/>
                <a:cs typeface="DM Sans Bold"/>
                <a:sym typeface="DM Sans Bold"/>
              </a:rPr>
              <a:t> 43110342</a:t>
            </a:r>
            <a:r>
              <a:rPr lang="en-US" sz="3500" b="1" dirty="0">
                <a:solidFill>
                  <a:srgbClr val="0B1C30"/>
                </a:solidFill>
                <a:latin typeface="DM Sans Bold"/>
                <a:ea typeface="DM Sans Bold"/>
                <a:cs typeface="DM Sans Bold"/>
                <a:sym typeface="DM Sans Bold"/>
              </a:rPr>
              <a:t>  - Jeevanantham S</a:t>
            </a:r>
          </a:p>
          <a:p>
            <a:pPr algn="l">
              <a:lnSpc>
                <a:spcPts val="5619"/>
              </a:lnSpc>
            </a:pPr>
            <a:r>
              <a:rPr lang="en-US" sz="3500" b="1" dirty="0">
                <a:solidFill>
                  <a:srgbClr val="0B1C30"/>
                </a:solidFill>
                <a:latin typeface="DM Sans Bold"/>
                <a:ea typeface="DM Sans Bold"/>
                <a:cs typeface="DM Sans Bold"/>
                <a:sym typeface="DM Sans Bold"/>
              </a:rPr>
              <a:t> </a:t>
            </a:r>
          </a:p>
        </p:txBody>
      </p:sp>
      <p:sp>
        <p:nvSpPr>
          <p:cNvPr id="10" name="TextBox 10"/>
          <p:cNvSpPr txBox="1"/>
          <p:nvPr/>
        </p:nvSpPr>
        <p:spPr>
          <a:xfrm>
            <a:off x="5943600" y="8779382"/>
            <a:ext cx="4953000" cy="514372"/>
          </a:xfrm>
          <a:prstGeom prst="rect">
            <a:avLst/>
          </a:prstGeom>
        </p:spPr>
        <p:txBody>
          <a:bodyPr wrap="square" lIns="0" tIns="0" rIns="0" bIns="0" rtlCol="0" anchor="t">
            <a:spAutoFit/>
          </a:bodyPr>
          <a:lstStyle/>
          <a:p>
            <a:pPr algn="l">
              <a:lnSpc>
                <a:spcPts val="4219"/>
              </a:lnSpc>
            </a:pPr>
            <a:r>
              <a:rPr lang="en-US" sz="3013" dirty="0">
                <a:solidFill>
                  <a:srgbClr val="0B1C30"/>
                </a:solidFill>
                <a:latin typeface="DM Sans"/>
                <a:ea typeface="DM Sans"/>
                <a:cs typeface="DM Sans"/>
                <a:sym typeface="DM Sans"/>
              </a:rPr>
              <a:t>Date : </a:t>
            </a:r>
            <a:r>
              <a:rPr lang="en-US" sz="3013" b="1" dirty="0">
                <a:solidFill>
                  <a:srgbClr val="0B1C30"/>
                </a:solidFill>
                <a:latin typeface="DM Sans"/>
                <a:ea typeface="DM Sans"/>
                <a:cs typeface="DM Sans"/>
                <a:sym typeface="DM Sans"/>
              </a:rPr>
              <a:t>28th</a:t>
            </a:r>
            <a:r>
              <a:rPr lang="en-US" sz="3013" dirty="0">
                <a:solidFill>
                  <a:srgbClr val="0B1C30"/>
                </a:solidFill>
                <a:latin typeface="DM Sans"/>
                <a:ea typeface="DM Sans"/>
                <a:cs typeface="DM Sans"/>
                <a:sym typeface="DM Sans"/>
              </a:rPr>
              <a:t> </a:t>
            </a:r>
            <a:r>
              <a:rPr lang="en-US" sz="3013" dirty="0" err="1">
                <a:solidFill>
                  <a:srgbClr val="0B1C30"/>
                </a:solidFill>
                <a:latin typeface="DM Sans"/>
                <a:ea typeface="DM Sans"/>
                <a:cs typeface="DM Sans"/>
                <a:sym typeface="DM Sans"/>
              </a:rPr>
              <a:t>Febraury</a:t>
            </a:r>
            <a:r>
              <a:rPr lang="en-US" sz="3013" dirty="0">
                <a:solidFill>
                  <a:srgbClr val="0B1C30"/>
                </a:solidFill>
                <a:latin typeface="DM Sans"/>
                <a:ea typeface="DM Sans"/>
                <a:cs typeface="DM Sans"/>
                <a:sym typeface="DM Sans"/>
              </a:rPr>
              <a:t> 2026</a:t>
            </a:r>
          </a:p>
        </p:txBody>
      </p:sp>
      <p:sp>
        <p:nvSpPr>
          <p:cNvPr id="11" name="TextBox 10">
            <a:extLst>
              <a:ext uri="{FF2B5EF4-FFF2-40B4-BE49-F238E27FC236}">
                <a16:creationId xmlns:a16="http://schemas.microsoft.com/office/drawing/2014/main" id="{4B22AAB7-F9C4-D603-78CD-81BDACB0C7B8}"/>
              </a:ext>
            </a:extLst>
          </p:cNvPr>
          <p:cNvSpPr txBox="1"/>
          <p:nvPr/>
        </p:nvSpPr>
        <p:spPr>
          <a:xfrm>
            <a:off x="4950235" y="1507618"/>
            <a:ext cx="7593632" cy="1077218"/>
          </a:xfrm>
          <a:prstGeom prst="rect">
            <a:avLst/>
          </a:prstGeom>
        </p:spPr>
        <p:txBody>
          <a:bodyPr wrap="square" lIns="0" tIns="0" rIns="0" bIns="0" rtlCol="0" anchor="t">
            <a:spAutoFit/>
          </a:bodyPr>
          <a:lstStyle/>
          <a:p>
            <a:pPr algn="ctr">
              <a:lnSpc>
                <a:spcPts val="4219"/>
              </a:lnSpc>
            </a:pPr>
            <a:r>
              <a:rPr lang="en-US" sz="4000" b="1" dirty="0">
                <a:solidFill>
                  <a:srgbClr val="0B1C30"/>
                </a:solidFill>
                <a:latin typeface="Times New Roman" panose="02020603050405020304" pitchFamily="18" charset="0"/>
                <a:ea typeface="DM Sans"/>
                <a:cs typeface="Times New Roman" panose="02020603050405020304" pitchFamily="18" charset="0"/>
                <a:sym typeface="DM Sans"/>
              </a:rPr>
              <a:t>Sathyabama institute of Science and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39000" y="3916232"/>
            <a:ext cx="4949000" cy="6370768"/>
            <a:chOff x="0" y="0"/>
            <a:chExt cx="6598666" cy="8494357"/>
          </a:xfrm>
        </p:grpSpPr>
        <p:sp>
          <p:nvSpPr>
            <p:cNvPr id="3" name="Freeform 3"/>
            <p:cNvSpPr/>
            <p:nvPr/>
          </p:nvSpPr>
          <p:spPr>
            <a:xfrm>
              <a:off x="0" y="0"/>
              <a:ext cx="6598666" cy="8494395"/>
            </a:xfrm>
            <a:custGeom>
              <a:avLst/>
              <a:gdLst/>
              <a:ahLst/>
              <a:cxnLst/>
              <a:rect l="l" t="t" r="r" b="b"/>
              <a:pathLst>
                <a:path w="6598666" h="8494395">
                  <a:moveTo>
                    <a:pt x="0" y="0"/>
                  </a:moveTo>
                  <a:lnTo>
                    <a:pt x="6598666" y="0"/>
                  </a:lnTo>
                  <a:lnTo>
                    <a:pt x="6598666" y="8494395"/>
                  </a:lnTo>
                  <a:lnTo>
                    <a:pt x="0" y="8494395"/>
                  </a:lnTo>
                  <a:lnTo>
                    <a:pt x="0" y="0"/>
                  </a:lnTo>
                  <a:close/>
                </a:path>
              </a:pathLst>
            </a:custGeom>
            <a:blipFill>
              <a:blip r:embed="rId2"/>
              <a:stretch>
                <a:fillRect r="-1235" b="-919"/>
              </a:stretch>
            </a:blipFill>
          </p:spPr>
        </p:sp>
      </p:grpSp>
      <p:grpSp>
        <p:nvGrpSpPr>
          <p:cNvPr id="4" name="Group 4"/>
          <p:cNvGrpSpPr/>
          <p:nvPr/>
        </p:nvGrpSpPr>
        <p:grpSpPr>
          <a:xfrm>
            <a:off x="708279" y="2965971"/>
            <a:ext cx="2602811" cy="47625"/>
            <a:chOff x="0" y="0"/>
            <a:chExt cx="2602814" cy="47625"/>
          </a:xfrm>
        </p:grpSpPr>
        <p:sp>
          <p:nvSpPr>
            <p:cNvPr id="5" name="Freeform 5"/>
            <p:cNvSpPr/>
            <p:nvPr/>
          </p:nvSpPr>
          <p:spPr>
            <a:xfrm>
              <a:off x="0" y="0"/>
              <a:ext cx="2602738" cy="47625"/>
            </a:xfrm>
            <a:custGeom>
              <a:avLst/>
              <a:gdLst/>
              <a:ahLst/>
              <a:cxnLst/>
              <a:rect l="l" t="t" r="r" b="b"/>
              <a:pathLst>
                <a:path w="2602738" h="47625">
                  <a:moveTo>
                    <a:pt x="0" y="0"/>
                  </a:moveTo>
                  <a:lnTo>
                    <a:pt x="0" y="47625"/>
                  </a:lnTo>
                  <a:lnTo>
                    <a:pt x="2602738" y="47625"/>
                  </a:lnTo>
                  <a:lnTo>
                    <a:pt x="2602738" y="0"/>
                  </a:lnTo>
                  <a:close/>
                </a:path>
              </a:pathLst>
            </a:custGeom>
            <a:solidFill>
              <a:srgbClr val="F8BC00"/>
            </a:solidFill>
          </p:spPr>
        </p:sp>
      </p:grpSp>
      <p:sp>
        <p:nvSpPr>
          <p:cNvPr id="6" name="TextBox 6"/>
          <p:cNvSpPr txBox="1"/>
          <p:nvPr/>
        </p:nvSpPr>
        <p:spPr>
          <a:xfrm>
            <a:off x="607095" y="1305820"/>
            <a:ext cx="4157329" cy="1504398"/>
          </a:xfrm>
          <a:prstGeom prst="rect">
            <a:avLst/>
          </a:prstGeom>
        </p:spPr>
        <p:txBody>
          <a:bodyPr lIns="0" tIns="0" rIns="0" bIns="0" rtlCol="0" anchor="t">
            <a:spAutoFit/>
          </a:bodyPr>
          <a:lstStyle/>
          <a:p>
            <a:pPr algn="l">
              <a:lnSpc>
                <a:spcPts val="5597"/>
              </a:lnSpc>
            </a:pPr>
            <a:r>
              <a:rPr lang="en-US" sz="6569">
                <a:solidFill>
                  <a:srgbClr val="000000"/>
                </a:solidFill>
                <a:latin typeface="DM Sans"/>
                <a:ea typeface="DM Sans"/>
                <a:cs typeface="DM Sans"/>
                <a:sym typeface="DM Sans"/>
              </a:rPr>
              <a:t>Problem Statement</a:t>
            </a:r>
          </a:p>
        </p:txBody>
      </p:sp>
      <p:sp>
        <p:nvSpPr>
          <p:cNvPr id="7" name="TextBox 7"/>
          <p:cNvSpPr txBox="1"/>
          <p:nvPr/>
        </p:nvSpPr>
        <p:spPr>
          <a:xfrm>
            <a:off x="2362200" y="3013596"/>
            <a:ext cx="12115800" cy="7032181"/>
          </a:xfrm>
          <a:prstGeom prst="rect">
            <a:avLst/>
          </a:prstGeom>
        </p:spPr>
        <p:txBody>
          <a:bodyPr wrap="square" lIns="0" tIns="0" rIns="0" bIns="0" rtlCol="0" anchor="t">
            <a:spAutoFit/>
          </a:bodyPr>
          <a:lstStyle/>
          <a:p>
            <a:pPr>
              <a:lnSpc>
                <a:spcPct val="150000"/>
              </a:lnSpc>
            </a:pPr>
            <a:r>
              <a:rPr lang="en-US" sz="2800" dirty="0">
                <a:latin typeface="Times New Roman" panose="02020603050405020304" pitchFamily="18" charset="0"/>
                <a:cs typeface="Times New Roman" panose="02020603050405020304" pitchFamily="18" charset="0"/>
              </a:rPr>
              <a:t>In many educational institutions, it is difficult to identify students who may perform poorly before final examinations. Teachers usually evaluate students based on periodic tests and assignments, but this method does not provide accurate early prediction.</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dirty="0">
                <a:latin typeface="Times New Roman" panose="02020603050405020304" pitchFamily="18" charset="0"/>
                <a:cs typeface="Times New Roman" panose="02020603050405020304" pitchFamily="18" charset="0"/>
              </a:rPr>
              <a:t>There is no automated system that analyzes student data and predicts performance in advance.</a:t>
            </a: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r>
              <a:rPr lang="en-US" sz="2800" dirty="0">
                <a:latin typeface="Times New Roman" panose="02020603050405020304" pitchFamily="18" charset="0"/>
                <a:cs typeface="Times New Roman" panose="02020603050405020304" pitchFamily="18" charset="0"/>
              </a:rPr>
              <a:t>This project aims to build a Machine Learning model that predicts student performance using factors such as study hours, attendance, internal marks, and previous scores.</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0635B-F219-DF3E-F754-8F406249F00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C8BB8E-C027-80BA-4939-461FDFCF5124}"/>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0AA69D33-3769-516C-A63C-74A8F508C96B}"/>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D3A50152-C5D8-2154-C89D-A9F474CC331B}"/>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0EC27A5F-C694-2B46-E07F-078B6018F092}"/>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D21B99F1-AC30-7018-7E39-3497C2593999}"/>
              </a:ext>
            </a:extLst>
          </p:cNvPr>
          <p:cNvGrpSpPr/>
          <p:nvPr/>
        </p:nvGrpSpPr>
        <p:grpSpPr>
          <a:xfrm>
            <a:off x="918326" y="1993747"/>
            <a:ext cx="3130153" cy="97841"/>
            <a:chOff x="0" y="0"/>
            <a:chExt cx="3130156" cy="97841"/>
          </a:xfrm>
        </p:grpSpPr>
        <p:sp>
          <p:nvSpPr>
            <p:cNvPr id="7" name="Freeform 7">
              <a:extLst>
                <a:ext uri="{FF2B5EF4-FFF2-40B4-BE49-F238E27FC236}">
                  <a16:creationId xmlns:a16="http://schemas.microsoft.com/office/drawing/2014/main" id="{A07C1F39-ACE5-4389-5CD9-911B62207CBC}"/>
                </a:ext>
              </a:extLst>
            </p:cNvPr>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a:extLst>
              <a:ext uri="{FF2B5EF4-FFF2-40B4-BE49-F238E27FC236}">
                <a16:creationId xmlns:a16="http://schemas.microsoft.com/office/drawing/2014/main" id="{2613B300-1B89-E613-D562-5D5B59CEB490}"/>
              </a:ext>
            </a:extLst>
          </p:cNvPr>
          <p:cNvSpPr txBox="1"/>
          <p:nvPr/>
        </p:nvSpPr>
        <p:spPr>
          <a:xfrm>
            <a:off x="918326" y="578738"/>
            <a:ext cx="6320674" cy="1516762"/>
          </a:xfrm>
          <a:prstGeom prst="rect">
            <a:avLst/>
          </a:prstGeom>
        </p:spPr>
        <p:txBody>
          <a:bodyPr wrap="square" lIns="0" tIns="0" rIns="0" bIns="0" rtlCol="0" anchor="t">
            <a:spAutoFit/>
          </a:bodyPr>
          <a:lstStyle/>
          <a:p>
            <a:pPr>
              <a:lnSpc>
                <a:spcPts val="5658"/>
              </a:lnSpc>
            </a:pPr>
            <a:r>
              <a:rPr lang="en-IN" sz="6600" dirty="0"/>
              <a:t>Need for the Project</a:t>
            </a:r>
            <a:endParaRPr lang="en-US" sz="6357" dirty="0">
              <a:solidFill>
                <a:srgbClr val="000000"/>
              </a:solidFill>
              <a:latin typeface="DM Sans"/>
              <a:ea typeface="DM Sans"/>
              <a:cs typeface="DM Sans"/>
              <a:sym typeface="DM Sans"/>
            </a:endParaRPr>
          </a:p>
        </p:txBody>
      </p:sp>
      <p:sp>
        <p:nvSpPr>
          <p:cNvPr id="9" name="TextBox 9">
            <a:extLst>
              <a:ext uri="{FF2B5EF4-FFF2-40B4-BE49-F238E27FC236}">
                <a16:creationId xmlns:a16="http://schemas.microsoft.com/office/drawing/2014/main" id="{DCAAD505-E450-3555-80C2-A00020973536}"/>
              </a:ext>
            </a:extLst>
          </p:cNvPr>
          <p:cNvSpPr txBox="1"/>
          <p:nvPr/>
        </p:nvSpPr>
        <p:spPr>
          <a:xfrm>
            <a:off x="3733800" y="1895628"/>
            <a:ext cx="11843184" cy="10448501"/>
          </a:xfrm>
          <a:prstGeom prst="rect">
            <a:avLst/>
          </a:prstGeom>
        </p:spPr>
        <p:txBody>
          <a:bodyPr lIns="0" tIns="0" rIns="0" bIns="0" rtlCol="0" anchor="t">
            <a:spAutoFit/>
          </a:bodyPr>
          <a:lstStyle/>
          <a:p>
            <a:pPr>
              <a:lnSpc>
                <a:spcPct val="150000"/>
              </a:lnSpc>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r>
              <a:rPr lang="en-US" sz="3200" dirty="0" err="1">
                <a:latin typeface="Times New Roman" panose="02020603050405020304" pitchFamily="18" charset="0"/>
                <a:cs typeface="Times New Roman" panose="02020603050405020304" pitchFamily="18" charset="0"/>
              </a:rPr>
              <a:t>PrEarly</a:t>
            </a:r>
            <a:r>
              <a:rPr lang="en-US" sz="3200" dirty="0">
                <a:latin typeface="Times New Roman" panose="02020603050405020304" pitchFamily="18" charset="0"/>
                <a:cs typeface="Times New Roman" panose="02020603050405020304" pitchFamily="18" charset="0"/>
              </a:rPr>
              <a:t> identification of academically weak students.</a:t>
            </a:r>
          </a:p>
          <a:p>
            <a:pPr marL="474979" lvl="1" indent="-237490">
              <a:lnSpc>
                <a:spcPct val="150000"/>
              </a:lnSpc>
              <a:buFont typeface="Arial"/>
              <a:buChar char="•"/>
            </a:pPr>
            <a:r>
              <a:rPr lang="en-US" sz="3200" dirty="0" err="1">
                <a:latin typeface="Times New Roman" panose="02020603050405020304" pitchFamily="18" charset="0"/>
                <a:cs typeface="Times New Roman" panose="02020603050405020304" pitchFamily="18" charset="0"/>
              </a:rPr>
              <a:t>ovide</a:t>
            </a:r>
            <a:r>
              <a:rPr lang="en-US" sz="3200" dirty="0">
                <a:latin typeface="Times New Roman" panose="02020603050405020304" pitchFamily="18" charset="0"/>
                <a:cs typeface="Times New Roman" panose="02020603050405020304" pitchFamily="18" charset="0"/>
              </a:rPr>
              <a:t> additional support and mentoring</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Improve overall academic performance</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Reduce student dropout rate</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Assist teachers in making data-driven decisions.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Save time compared to manual monitoring.</a:t>
            </a:r>
          </a:p>
          <a:p>
            <a:pPr marL="237489" lvl="1">
              <a:lnSpc>
                <a:spcPct val="150000"/>
              </a:lnSpc>
            </a:pPr>
            <a:endParaRPr lang="en-US" sz="3200" dirty="0">
              <a:latin typeface="Times New Roman" panose="02020603050405020304" pitchFamily="18" charset="0"/>
              <a:cs typeface="Times New Roman" panose="02020603050405020304" pitchFamily="18" charset="0"/>
            </a:endParaRPr>
          </a:p>
          <a:p>
            <a:pPr marL="237489" lvl="1">
              <a:lnSpc>
                <a:spcPct val="150000"/>
              </a:lnSpc>
            </a:pPr>
            <a:r>
              <a:rPr lang="en-US" sz="3200" dirty="0">
                <a:latin typeface="Times New Roman" panose="02020603050405020304" pitchFamily="18" charset="0"/>
                <a:cs typeface="Times New Roman" panose="02020603050405020304" pitchFamily="18" charset="0"/>
              </a:rPr>
              <a:t>This system helps institutions take preventive action before final exams.</a:t>
            </a:r>
          </a:p>
          <a:p>
            <a:pPr marL="474979" lvl="1" indent="-237490">
              <a:lnSpc>
                <a:spcPct val="150000"/>
              </a:lnSpc>
              <a:buFont typeface="Arial"/>
              <a:buChar char="•"/>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extLst>
      <p:ext uri="{BB962C8B-B14F-4D97-AF65-F5344CB8AC3E}">
        <p14:creationId xmlns:p14="http://schemas.microsoft.com/office/powerpoint/2010/main" val="1175272191"/>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57E9-BFE6-2E9E-AE6E-0BE5F5684F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FB0565-EFF8-4815-0905-E26A6C4D323B}"/>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30DD5B3F-7F5C-6CF6-A07F-1AADD1AA04D1}"/>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6D02E5E9-BDA4-F3E6-9C94-E1B2D02A004B}"/>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3562A130-8439-083C-CD50-05CC360E0F65}"/>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BE643E87-5ADD-EB2B-7D49-1E3326CEF9A8}"/>
              </a:ext>
            </a:extLst>
          </p:cNvPr>
          <p:cNvGrpSpPr/>
          <p:nvPr/>
        </p:nvGrpSpPr>
        <p:grpSpPr>
          <a:xfrm>
            <a:off x="918326" y="1993747"/>
            <a:ext cx="3130153" cy="97841"/>
            <a:chOff x="0" y="0"/>
            <a:chExt cx="3130156" cy="97841"/>
          </a:xfrm>
        </p:grpSpPr>
        <p:sp>
          <p:nvSpPr>
            <p:cNvPr id="7" name="Freeform 7">
              <a:extLst>
                <a:ext uri="{FF2B5EF4-FFF2-40B4-BE49-F238E27FC236}">
                  <a16:creationId xmlns:a16="http://schemas.microsoft.com/office/drawing/2014/main" id="{5BAC620B-2AB8-13BF-6297-083A3B482FBC}"/>
                </a:ext>
              </a:extLst>
            </p:cNvPr>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a:extLst>
              <a:ext uri="{FF2B5EF4-FFF2-40B4-BE49-F238E27FC236}">
                <a16:creationId xmlns:a16="http://schemas.microsoft.com/office/drawing/2014/main" id="{56BE30FB-0A9A-F9AD-5054-00D7E0428404}"/>
              </a:ext>
            </a:extLst>
          </p:cNvPr>
          <p:cNvSpPr txBox="1"/>
          <p:nvPr/>
        </p:nvSpPr>
        <p:spPr>
          <a:xfrm>
            <a:off x="918326" y="578738"/>
            <a:ext cx="6320674" cy="1516762"/>
          </a:xfrm>
          <a:prstGeom prst="rect">
            <a:avLst/>
          </a:prstGeom>
        </p:spPr>
        <p:txBody>
          <a:bodyPr wrap="square" lIns="0" tIns="0" rIns="0" bIns="0" rtlCol="0" anchor="t">
            <a:spAutoFit/>
          </a:bodyPr>
          <a:lstStyle/>
          <a:p>
            <a:pPr>
              <a:lnSpc>
                <a:spcPts val="5658"/>
              </a:lnSpc>
            </a:pPr>
            <a:r>
              <a:rPr lang="en-IN" sz="6600" dirty="0"/>
              <a:t>Real-World Relevance</a:t>
            </a:r>
            <a:endParaRPr lang="en-US" sz="6357" dirty="0">
              <a:solidFill>
                <a:srgbClr val="000000"/>
              </a:solidFill>
              <a:latin typeface="DM Sans"/>
              <a:ea typeface="DM Sans"/>
              <a:cs typeface="DM Sans"/>
              <a:sym typeface="DM Sans"/>
            </a:endParaRPr>
          </a:p>
        </p:txBody>
      </p:sp>
      <p:sp>
        <p:nvSpPr>
          <p:cNvPr id="9" name="TextBox 9">
            <a:extLst>
              <a:ext uri="{FF2B5EF4-FFF2-40B4-BE49-F238E27FC236}">
                <a16:creationId xmlns:a16="http://schemas.microsoft.com/office/drawing/2014/main" id="{90F74F65-1B0C-6CF6-9D6B-31BA033FD50E}"/>
              </a:ext>
            </a:extLst>
          </p:cNvPr>
          <p:cNvSpPr txBox="1"/>
          <p:nvPr/>
        </p:nvSpPr>
        <p:spPr>
          <a:xfrm>
            <a:off x="3733800" y="1895628"/>
            <a:ext cx="11843184" cy="9063507"/>
          </a:xfrm>
          <a:prstGeom prst="rect">
            <a:avLst/>
          </a:prstGeom>
        </p:spPr>
        <p:txBody>
          <a:bodyPr lIns="0" tIns="0" rIns="0" bIns="0" rtlCol="0" anchor="t">
            <a:spAutoFit/>
          </a:bodyPr>
          <a:lstStyle/>
          <a:p>
            <a:pPr>
              <a:lnSpc>
                <a:spcPct val="150000"/>
              </a:lnSpc>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Used in schools and colleges for performance monitoring</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Applied in EdTech platforms for personalized learning</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Helps administrators track student progress</a:t>
            </a:r>
          </a:p>
          <a:p>
            <a:pPr marL="474979" lvl="1" indent="-237490">
              <a:lnSpc>
                <a:spcPct val="150000"/>
              </a:lnSpc>
              <a:buFont typeface="Arial"/>
              <a:buChar char="•"/>
            </a:pPr>
            <a:r>
              <a:rPr lang="en-IN" sz="3200" dirty="0">
                <a:latin typeface="Times New Roman" panose="02020603050405020304" pitchFamily="18" charset="0"/>
                <a:cs typeface="Times New Roman" panose="02020603050405020304" pitchFamily="18" charset="0"/>
              </a:rPr>
              <a:t>Supports educational data analytics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Improves student success and institutional performance</a:t>
            </a:r>
          </a:p>
          <a:p>
            <a:pPr marL="237489" lvl="1">
              <a:lnSpc>
                <a:spcPct val="150000"/>
              </a:lnSpc>
            </a:pPr>
            <a:endParaRPr lang="en-US" sz="3200" dirty="0">
              <a:latin typeface="Times New Roman" panose="02020603050405020304" pitchFamily="18" charset="0"/>
              <a:cs typeface="Times New Roman" panose="02020603050405020304" pitchFamily="18" charset="0"/>
            </a:endParaRPr>
          </a:p>
          <a:p>
            <a:pPr marL="237489" lvl="1">
              <a:lnSpc>
                <a:spcPct val="150000"/>
              </a:lnSpc>
            </a:pPr>
            <a:r>
              <a:rPr lang="en-US" sz="3200" dirty="0">
                <a:latin typeface="Times New Roman" panose="02020603050405020304" pitchFamily="18" charset="0"/>
                <a:cs typeface="Times New Roman" panose="02020603050405020304" pitchFamily="18" charset="0"/>
              </a:rPr>
              <a:t>Machine Learning is widely used today in education to improve learning outcomes.</a:t>
            </a:r>
          </a:p>
          <a:p>
            <a:pPr marL="474979" lvl="1" indent="-237490">
              <a:lnSpc>
                <a:spcPct val="150000"/>
              </a:lnSpc>
              <a:buFont typeface="Arial"/>
              <a:buChar char="•"/>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extLst>
      <p:ext uri="{BB962C8B-B14F-4D97-AF65-F5344CB8AC3E}">
        <p14:creationId xmlns:p14="http://schemas.microsoft.com/office/powerpoint/2010/main" val="382571240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A1504-B2A4-B15E-6B7C-288519E218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AAC0B15-9751-2CDA-B7C3-5EE2069189EC}"/>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2C4EB8AD-9F38-4AA3-FDD6-E78A21AB9128}"/>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A8361787-0CE7-5F93-B279-38952B44E8D6}"/>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6547BDE1-EDBC-B700-8316-BB195FB5E1FD}"/>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E86A03B3-EC20-6412-4E3A-EEC481C4EC6D}"/>
              </a:ext>
            </a:extLst>
          </p:cNvPr>
          <p:cNvGrpSpPr/>
          <p:nvPr/>
        </p:nvGrpSpPr>
        <p:grpSpPr>
          <a:xfrm>
            <a:off x="918326" y="1993747"/>
            <a:ext cx="3130153" cy="97841"/>
            <a:chOff x="0" y="0"/>
            <a:chExt cx="3130156" cy="97841"/>
          </a:xfrm>
        </p:grpSpPr>
        <p:sp>
          <p:nvSpPr>
            <p:cNvPr id="7" name="Freeform 7">
              <a:extLst>
                <a:ext uri="{FF2B5EF4-FFF2-40B4-BE49-F238E27FC236}">
                  <a16:creationId xmlns:a16="http://schemas.microsoft.com/office/drawing/2014/main" id="{F0FF5911-EC63-AC11-0D71-FD571382207D}"/>
                </a:ext>
              </a:extLst>
            </p:cNvPr>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a:extLst>
              <a:ext uri="{FF2B5EF4-FFF2-40B4-BE49-F238E27FC236}">
                <a16:creationId xmlns:a16="http://schemas.microsoft.com/office/drawing/2014/main" id="{49921EF2-E13F-D1F0-EFD3-F0338990C7AE}"/>
              </a:ext>
            </a:extLst>
          </p:cNvPr>
          <p:cNvSpPr txBox="1"/>
          <p:nvPr/>
        </p:nvSpPr>
        <p:spPr>
          <a:xfrm>
            <a:off x="918326" y="1181100"/>
            <a:ext cx="6320674" cy="785793"/>
          </a:xfrm>
          <a:prstGeom prst="rect">
            <a:avLst/>
          </a:prstGeom>
        </p:spPr>
        <p:txBody>
          <a:bodyPr wrap="square" lIns="0" tIns="0" rIns="0" bIns="0" rtlCol="0" anchor="t">
            <a:spAutoFit/>
          </a:bodyPr>
          <a:lstStyle/>
          <a:p>
            <a:pPr>
              <a:lnSpc>
                <a:spcPts val="5658"/>
              </a:lnSpc>
            </a:pPr>
            <a:r>
              <a:rPr lang="en-IN" sz="6600" dirty="0"/>
              <a:t>Objectives</a:t>
            </a:r>
            <a:endParaRPr lang="en-US" sz="6357" dirty="0">
              <a:solidFill>
                <a:srgbClr val="000000"/>
              </a:solidFill>
              <a:latin typeface="DM Sans"/>
              <a:ea typeface="DM Sans"/>
              <a:cs typeface="DM Sans"/>
              <a:sym typeface="DM Sans"/>
            </a:endParaRPr>
          </a:p>
        </p:txBody>
      </p:sp>
      <p:sp>
        <p:nvSpPr>
          <p:cNvPr id="9" name="TextBox 9">
            <a:extLst>
              <a:ext uri="{FF2B5EF4-FFF2-40B4-BE49-F238E27FC236}">
                <a16:creationId xmlns:a16="http://schemas.microsoft.com/office/drawing/2014/main" id="{8C5D1259-3190-C5AC-875A-9B230939F6B4}"/>
              </a:ext>
            </a:extLst>
          </p:cNvPr>
          <p:cNvSpPr txBox="1"/>
          <p:nvPr/>
        </p:nvSpPr>
        <p:spPr>
          <a:xfrm>
            <a:off x="4021453" y="2553733"/>
            <a:ext cx="11843184" cy="6201185"/>
          </a:xfrm>
          <a:prstGeom prst="rect">
            <a:avLst/>
          </a:prstGeom>
        </p:spPr>
        <p:txBody>
          <a:bodyPr lIns="0" tIns="0" rIns="0" bIns="0" rtlCol="0" anchor="t">
            <a:spAutoFit/>
          </a:bodyPr>
          <a:lstStyle/>
          <a:p>
            <a:pPr>
              <a:lnSpc>
                <a:spcPct val="150000"/>
              </a:lnSpc>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To collect and analyze student academic data</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To preprocess and clean the dataset</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To develop a predictive Machine Learning model</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To evaluate model performance using metrics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To assist teachers in early academic intervention</a:t>
            </a:r>
          </a:p>
          <a:p>
            <a:pPr marL="237489" lvl="1">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extLst>
      <p:ext uri="{BB962C8B-B14F-4D97-AF65-F5344CB8AC3E}">
        <p14:creationId xmlns:p14="http://schemas.microsoft.com/office/powerpoint/2010/main" val="161929634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1028700" y="1821885"/>
            <a:ext cx="2602659" cy="81353"/>
            <a:chOff x="0" y="0"/>
            <a:chExt cx="2602662" cy="81356"/>
          </a:xfrm>
        </p:grpSpPr>
        <p:sp>
          <p:nvSpPr>
            <p:cNvPr id="7" name="Freeform 7"/>
            <p:cNvSpPr/>
            <p:nvPr/>
          </p:nvSpPr>
          <p:spPr>
            <a:xfrm>
              <a:off x="0" y="0"/>
              <a:ext cx="2602613" cy="81410"/>
            </a:xfrm>
            <a:custGeom>
              <a:avLst/>
              <a:gdLst/>
              <a:ahLst/>
              <a:cxnLst/>
              <a:rect l="l" t="t" r="r" b="b"/>
              <a:pathLst>
                <a:path w="2602613" h="81410">
                  <a:moveTo>
                    <a:pt x="0" y="0"/>
                  </a:moveTo>
                  <a:lnTo>
                    <a:pt x="2602613" y="0"/>
                  </a:lnTo>
                  <a:lnTo>
                    <a:pt x="2602613" y="81410"/>
                  </a:lnTo>
                  <a:lnTo>
                    <a:pt x="0" y="81410"/>
                  </a:lnTo>
                  <a:close/>
                </a:path>
              </a:pathLst>
            </a:custGeom>
            <a:solidFill>
              <a:srgbClr val="F8BC00"/>
            </a:solidFill>
          </p:spPr>
        </p:sp>
      </p:grpSp>
      <p:sp>
        <p:nvSpPr>
          <p:cNvPr id="8" name="TextBox 8"/>
          <p:cNvSpPr txBox="1"/>
          <p:nvPr/>
        </p:nvSpPr>
        <p:spPr>
          <a:xfrm>
            <a:off x="3048001" y="3146705"/>
            <a:ext cx="12206024" cy="5082160"/>
          </a:xfrm>
          <a:prstGeom prst="rect">
            <a:avLst/>
          </a:prstGeom>
        </p:spPr>
        <p:txBody>
          <a:bodyPr wrap="square" lIns="0" tIns="0" rIns="0" bIns="0" rtlCol="0" anchor="t">
            <a:spAutoFit/>
          </a:bodyPr>
          <a:lstStyle/>
          <a:p>
            <a:pPr>
              <a:lnSpc>
                <a:spcPct val="150000"/>
              </a:lnSpc>
            </a:pPr>
            <a:r>
              <a:rPr lang="en-US" sz="3200" dirty="0">
                <a:latin typeface="Times New Roman" panose="02020603050405020304" pitchFamily="18" charset="0"/>
                <a:cs typeface="Times New Roman" panose="02020603050405020304" pitchFamily="18" charset="0"/>
              </a:rPr>
              <a:t>With the rapid growth of technology, educational institutions generate a large amount of student data. However, most of this data is not effectively utilized.</a:t>
            </a:r>
          </a:p>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The motivation behind this project is to use Machine Learning techniques to convert raw student data into meaningful predictions that support academic improvement</a:t>
            </a:r>
            <a:r>
              <a:rPr lang="en-US" sz="2800" dirty="0">
                <a:latin typeface="Times New Roman" panose="02020603050405020304" pitchFamily="18" charset="0"/>
                <a:cs typeface="Times New Roman" panose="02020603050405020304" pitchFamily="18" charset="0"/>
              </a:rPr>
              <a:t>.</a:t>
            </a:r>
          </a:p>
        </p:txBody>
      </p:sp>
      <p:sp>
        <p:nvSpPr>
          <p:cNvPr id="9" name="TextBox 9"/>
          <p:cNvSpPr txBox="1"/>
          <p:nvPr/>
        </p:nvSpPr>
        <p:spPr>
          <a:xfrm>
            <a:off x="914400" y="740165"/>
            <a:ext cx="9577791" cy="1122423"/>
          </a:xfrm>
          <a:prstGeom prst="rect">
            <a:avLst/>
          </a:prstGeom>
        </p:spPr>
        <p:txBody>
          <a:bodyPr wrap="square" lIns="0" tIns="0" rIns="0" bIns="0" rtlCol="0" anchor="t">
            <a:spAutoFit/>
          </a:bodyPr>
          <a:lstStyle/>
          <a:p>
            <a:pPr>
              <a:lnSpc>
                <a:spcPts val="9197"/>
              </a:lnSpc>
            </a:pPr>
            <a:r>
              <a:rPr lang="en-IN" sz="6600" dirty="0"/>
              <a:t>Motivation/Background</a:t>
            </a:r>
            <a:endParaRPr lang="en-US" sz="6569" dirty="0">
              <a:solidFill>
                <a:srgbClr val="000000"/>
              </a:solidFill>
              <a:latin typeface="DM Sans"/>
              <a:ea typeface="DM Sans"/>
              <a:cs typeface="DM Sans"/>
              <a:sym typeface="DM Sans"/>
            </a:endParaRPr>
          </a:p>
        </p:txBody>
      </p:sp>
      <p:sp>
        <p:nvSpPr>
          <p:cNvPr id="10" name="TextBox 10"/>
          <p:cNvSpPr txBox="1"/>
          <p:nvPr/>
        </p:nvSpPr>
        <p:spPr>
          <a:xfrm>
            <a:off x="9050093" y="7567813"/>
            <a:ext cx="34595" cy="260347"/>
          </a:xfrm>
          <a:prstGeom prst="rect">
            <a:avLst/>
          </a:prstGeom>
        </p:spPr>
        <p:txBody>
          <a:bodyPr lIns="0" tIns="0" rIns="0" bIns="0" rtlCol="0" anchor="t">
            <a:spAutoFit/>
          </a:bodyPr>
          <a:lstStyle/>
          <a:p>
            <a:pPr algn="l">
              <a:lnSpc>
                <a:spcPts val="2288"/>
              </a:lnSpc>
            </a:pPr>
            <a:r>
              <a:rPr lang="en-US" sz="1122" b="1">
                <a:solidFill>
                  <a:srgbClr val="3B3535"/>
                </a:solidFill>
                <a:latin typeface="DM Sans Bold"/>
                <a:ea typeface="DM Sans Bold"/>
                <a:cs typeface="DM Sans Bold"/>
                <a:sym typeface="DM Sans Bold"/>
              </a:rPr>
              <a:t> </a:t>
            </a:r>
          </a:p>
        </p:txBody>
      </p:sp>
      <p:sp>
        <p:nvSpPr>
          <p:cNvPr id="11" name="TextBox 11"/>
          <p:cNvSpPr txBox="1"/>
          <p:nvPr/>
        </p:nvSpPr>
        <p:spPr>
          <a:xfrm>
            <a:off x="12136555" y="7524893"/>
            <a:ext cx="34595" cy="260347"/>
          </a:xfrm>
          <a:prstGeom prst="rect">
            <a:avLst/>
          </a:prstGeom>
        </p:spPr>
        <p:txBody>
          <a:bodyPr lIns="0" tIns="0" rIns="0" bIns="0" rtlCol="0" anchor="t">
            <a:spAutoFit/>
          </a:bodyPr>
          <a:lstStyle/>
          <a:p>
            <a:pPr algn="l">
              <a:lnSpc>
                <a:spcPts val="2288"/>
              </a:lnSpc>
            </a:pPr>
            <a:r>
              <a:rPr lang="en-US" sz="1122" b="1">
                <a:solidFill>
                  <a:srgbClr val="3B3535"/>
                </a:solidFill>
                <a:latin typeface="DM Sans Bold"/>
                <a:ea typeface="DM Sans Bold"/>
                <a:cs typeface="DM Sans Bold"/>
                <a:sym typeface="DM Sans Bold"/>
              </a:rPr>
              <a:t> </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C2708-D564-351D-DADC-E82CCFFBAD4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6B9058-5AEE-C57B-EF27-7E4573C9C35D}"/>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A7803E72-65CF-C04C-0B2E-C1DAE6967207}"/>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A328801B-EDAD-A6AA-8B7D-A443EBF7A02B}"/>
              </a:ext>
            </a:extLst>
          </p:cNvPr>
          <p:cNvGrpSpPr/>
          <p:nvPr/>
        </p:nvGrpSpPr>
        <p:grpSpPr>
          <a:xfrm>
            <a:off x="0" y="6667500"/>
            <a:ext cx="6667500" cy="3733800"/>
            <a:chOff x="0" y="0"/>
            <a:chExt cx="8890000" cy="4978400"/>
          </a:xfrm>
        </p:grpSpPr>
        <p:sp>
          <p:nvSpPr>
            <p:cNvPr id="5" name="Freeform 5">
              <a:extLst>
                <a:ext uri="{FF2B5EF4-FFF2-40B4-BE49-F238E27FC236}">
                  <a16:creationId xmlns:a16="http://schemas.microsoft.com/office/drawing/2014/main" id="{7A372A26-6F7C-E1A6-BE16-B705147F4A14}"/>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D9EB593D-4126-6E7E-CF4B-2A8B1FC6E8A9}"/>
              </a:ext>
            </a:extLst>
          </p:cNvPr>
          <p:cNvGrpSpPr/>
          <p:nvPr/>
        </p:nvGrpSpPr>
        <p:grpSpPr>
          <a:xfrm>
            <a:off x="918326" y="1993747"/>
            <a:ext cx="3130153" cy="97841"/>
            <a:chOff x="0" y="0"/>
            <a:chExt cx="3130156" cy="97841"/>
          </a:xfrm>
        </p:grpSpPr>
        <p:sp>
          <p:nvSpPr>
            <p:cNvPr id="7" name="Freeform 7">
              <a:extLst>
                <a:ext uri="{FF2B5EF4-FFF2-40B4-BE49-F238E27FC236}">
                  <a16:creationId xmlns:a16="http://schemas.microsoft.com/office/drawing/2014/main" id="{2CE74449-015F-62DF-160A-98E51D56F3FA}"/>
                </a:ext>
              </a:extLst>
            </p:cNvPr>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a:extLst>
              <a:ext uri="{FF2B5EF4-FFF2-40B4-BE49-F238E27FC236}">
                <a16:creationId xmlns:a16="http://schemas.microsoft.com/office/drawing/2014/main" id="{92200187-132B-4438-B8ED-C1A1A4883FEC}"/>
              </a:ext>
            </a:extLst>
          </p:cNvPr>
          <p:cNvSpPr txBox="1"/>
          <p:nvPr/>
        </p:nvSpPr>
        <p:spPr>
          <a:xfrm>
            <a:off x="1022851" y="1270101"/>
            <a:ext cx="6320674" cy="785793"/>
          </a:xfrm>
          <a:prstGeom prst="rect">
            <a:avLst/>
          </a:prstGeom>
        </p:spPr>
        <p:txBody>
          <a:bodyPr wrap="square" lIns="0" tIns="0" rIns="0" bIns="0" rtlCol="0" anchor="t">
            <a:spAutoFit/>
          </a:bodyPr>
          <a:lstStyle/>
          <a:p>
            <a:pPr>
              <a:lnSpc>
                <a:spcPts val="5658"/>
              </a:lnSpc>
            </a:pPr>
            <a:r>
              <a:rPr lang="en-IN" sz="6600" dirty="0"/>
              <a:t>Literature Review</a:t>
            </a:r>
            <a:endParaRPr lang="en-US" sz="6357" dirty="0">
              <a:solidFill>
                <a:srgbClr val="000000"/>
              </a:solidFill>
              <a:latin typeface="DM Sans"/>
              <a:ea typeface="DM Sans"/>
              <a:cs typeface="DM Sans"/>
              <a:sym typeface="DM Sans"/>
            </a:endParaRPr>
          </a:p>
        </p:txBody>
      </p:sp>
      <p:sp>
        <p:nvSpPr>
          <p:cNvPr id="9" name="TextBox 9">
            <a:extLst>
              <a:ext uri="{FF2B5EF4-FFF2-40B4-BE49-F238E27FC236}">
                <a16:creationId xmlns:a16="http://schemas.microsoft.com/office/drawing/2014/main" id="{F59B366B-F6A4-2D09-C7EE-A471B309FBAA}"/>
              </a:ext>
            </a:extLst>
          </p:cNvPr>
          <p:cNvSpPr txBox="1"/>
          <p:nvPr/>
        </p:nvSpPr>
        <p:spPr>
          <a:xfrm>
            <a:off x="3733799" y="1895628"/>
            <a:ext cx="13531349" cy="10448501"/>
          </a:xfrm>
          <a:prstGeom prst="rect">
            <a:avLst/>
          </a:prstGeom>
        </p:spPr>
        <p:txBody>
          <a:bodyPr wrap="square" lIns="0" tIns="0" rIns="0" bIns="0" rtlCol="0" anchor="t">
            <a:spAutoFit/>
          </a:bodyPr>
          <a:lstStyle/>
          <a:p>
            <a:pPr>
              <a:lnSpc>
                <a:spcPct val="150000"/>
              </a:lnSpc>
            </a:pPr>
            <a:endParaRPr lang="en-US" sz="2800" dirty="0">
              <a:latin typeface="Times New Roman" panose="02020603050405020304" pitchFamily="18" charset="0"/>
              <a:cs typeface="Times New Roman" panose="02020603050405020304" pitchFamily="18" charset="0"/>
            </a:endParaRPr>
          </a:p>
          <a:p>
            <a:pPr marL="237489" lvl="1">
              <a:lnSpc>
                <a:spcPct val="150000"/>
              </a:lnSpc>
            </a:pPr>
            <a:r>
              <a:rPr lang="en-US" sz="3200" dirty="0">
                <a:latin typeface="Times New Roman" panose="02020603050405020304" pitchFamily="18" charset="0"/>
                <a:cs typeface="Times New Roman" panose="02020603050405020304" pitchFamily="18" charset="0"/>
              </a:rPr>
              <a:t>Previous research studies have used Machine Learning algorithms like:</a:t>
            </a:r>
          </a:p>
          <a:p>
            <a:pPr marL="474979" lvl="1" indent="-237490">
              <a:lnSpc>
                <a:spcPct val="150000"/>
              </a:lnSpc>
              <a:buFont typeface="Arial"/>
              <a:buChar char="•"/>
            </a:pPr>
            <a:r>
              <a:rPr lang="en-IN" sz="3200" dirty="0">
                <a:latin typeface="Times New Roman" panose="02020603050405020304" pitchFamily="18" charset="0"/>
                <a:cs typeface="Times New Roman" panose="02020603050405020304" pitchFamily="18" charset="0"/>
              </a:rPr>
              <a:t>Linear Regression</a:t>
            </a:r>
            <a:endParaRPr lang="en-US" sz="32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r>
              <a:rPr lang="en-IN" sz="3200" dirty="0">
                <a:latin typeface="Times New Roman" panose="02020603050405020304" pitchFamily="18" charset="0"/>
                <a:cs typeface="Times New Roman" panose="02020603050405020304" pitchFamily="18" charset="0"/>
              </a:rPr>
              <a:t>Decision Tree</a:t>
            </a:r>
          </a:p>
          <a:p>
            <a:pPr marL="474979" lvl="1" indent="-237490">
              <a:lnSpc>
                <a:spcPct val="150000"/>
              </a:lnSpc>
              <a:buFont typeface="Arial"/>
              <a:buChar char="•"/>
            </a:pPr>
            <a:r>
              <a:rPr lang="en-IN" sz="3200" dirty="0">
                <a:latin typeface="Times New Roman" panose="02020603050405020304" pitchFamily="18" charset="0"/>
                <a:cs typeface="Times New Roman" panose="02020603050405020304" pitchFamily="18" charset="0"/>
              </a:rPr>
              <a:t>Random Forest</a:t>
            </a:r>
          </a:p>
          <a:p>
            <a:pPr marL="474979" lvl="1" indent="-237490">
              <a:lnSpc>
                <a:spcPct val="150000"/>
              </a:lnSpc>
              <a:buFont typeface="Arial"/>
              <a:buChar char="•"/>
            </a:pPr>
            <a:r>
              <a:rPr lang="en-IN" sz="3200" dirty="0">
                <a:latin typeface="Times New Roman" panose="02020603050405020304" pitchFamily="18" charset="0"/>
                <a:cs typeface="Times New Roman" panose="02020603050405020304" pitchFamily="18" charset="0"/>
              </a:rPr>
              <a:t>Support Vector Machine</a:t>
            </a: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 Most existing systems focus on predicting final results but do not emphasize early-stage     intervention.</a:t>
            </a:r>
          </a:p>
          <a:p>
            <a:pPr>
              <a:lnSpc>
                <a:spcPct val="150000"/>
              </a:lnSpc>
            </a:pPr>
            <a:r>
              <a:rPr lang="en-US" sz="3200" dirty="0">
                <a:latin typeface="Times New Roman" panose="02020603050405020304" pitchFamily="18" charset="0"/>
                <a:cs typeface="Times New Roman" panose="02020603050405020304" pitchFamily="18" charset="0"/>
              </a:rPr>
              <a:t>This project aims to provide a simple and effective prediction model for early identification of at-risk students.</a:t>
            </a:r>
          </a:p>
          <a:p>
            <a:pPr marL="237489" lvl="1">
              <a:lnSpc>
                <a:spcPct val="150000"/>
              </a:lnSpc>
            </a:pPr>
            <a:r>
              <a:rPr lang="en-US" sz="2800" dirty="0">
                <a:latin typeface="Times New Roman" panose="02020603050405020304" pitchFamily="18" charset="0"/>
                <a:cs typeface="Times New Roman" panose="02020603050405020304" pitchFamily="18" charset="0"/>
              </a:rPr>
              <a:t>.</a:t>
            </a:r>
          </a:p>
          <a:p>
            <a:pPr marL="474979" lvl="1" indent="-237490">
              <a:lnSpc>
                <a:spcPct val="150000"/>
              </a:lnSpc>
              <a:buFont typeface="Arial"/>
              <a:buChar char="•"/>
            </a:pPr>
            <a:endParaRPr lang="en-US" sz="2800" dirty="0">
              <a:latin typeface="Times New Roman" panose="02020603050405020304" pitchFamily="18" charset="0"/>
              <a:cs typeface="Times New Roman" panose="02020603050405020304" pitchFamily="18" charset="0"/>
            </a:endParaRPr>
          </a:p>
          <a:p>
            <a:pPr marL="474979" lvl="1" indent="-237490">
              <a:lnSpc>
                <a:spcPct val="150000"/>
              </a:lnSpc>
              <a:buFont typeface="Arial"/>
              <a:buChar char="•"/>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28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extLst>
      <p:ext uri="{BB962C8B-B14F-4D97-AF65-F5344CB8AC3E}">
        <p14:creationId xmlns:p14="http://schemas.microsoft.com/office/powerpoint/2010/main" val="154349766"/>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B7590-1A9D-8B95-048E-A77E714E0CC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9295B8-56E1-B525-C73B-CB4468B08D00}"/>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3D468462-EFB0-9717-56AD-783020D23DB0}"/>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5B6EA9D0-554A-6D57-5AB9-C61F8118C82D}"/>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086F4325-A284-5753-FB4B-D4E520BBAB70}"/>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C42489AD-6075-B4D2-50D7-D56CF90119AF}"/>
              </a:ext>
            </a:extLst>
          </p:cNvPr>
          <p:cNvGrpSpPr/>
          <p:nvPr/>
        </p:nvGrpSpPr>
        <p:grpSpPr>
          <a:xfrm>
            <a:off x="918326" y="1993747"/>
            <a:ext cx="3130153" cy="97841"/>
            <a:chOff x="0" y="0"/>
            <a:chExt cx="3130156" cy="97841"/>
          </a:xfrm>
        </p:grpSpPr>
        <p:sp>
          <p:nvSpPr>
            <p:cNvPr id="7" name="Freeform 7">
              <a:extLst>
                <a:ext uri="{FF2B5EF4-FFF2-40B4-BE49-F238E27FC236}">
                  <a16:creationId xmlns:a16="http://schemas.microsoft.com/office/drawing/2014/main" id="{6F8678DA-EA16-F42F-8393-5BC00E32BDCC}"/>
                </a:ext>
              </a:extLst>
            </p:cNvPr>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a:extLst>
              <a:ext uri="{FF2B5EF4-FFF2-40B4-BE49-F238E27FC236}">
                <a16:creationId xmlns:a16="http://schemas.microsoft.com/office/drawing/2014/main" id="{38081073-843A-C404-B584-6D548D733177}"/>
              </a:ext>
            </a:extLst>
          </p:cNvPr>
          <p:cNvSpPr txBox="1"/>
          <p:nvPr/>
        </p:nvSpPr>
        <p:spPr>
          <a:xfrm>
            <a:off x="918326" y="1181100"/>
            <a:ext cx="6320674" cy="785793"/>
          </a:xfrm>
          <a:prstGeom prst="rect">
            <a:avLst/>
          </a:prstGeom>
        </p:spPr>
        <p:txBody>
          <a:bodyPr wrap="square" lIns="0" tIns="0" rIns="0" bIns="0" rtlCol="0" anchor="t">
            <a:spAutoFit/>
          </a:bodyPr>
          <a:lstStyle/>
          <a:p>
            <a:pPr>
              <a:lnSpc>
                <a:spcPts val="5658"/>
              </a:lnSpc>
            </a:pPr>
            <a:r>
              <a:rPr lang="en-IN" sz="6600" dirty="0"/>
              <a:t>Methodology</a:t>
            </a:r>
            <a:endParaRPr lang="en-US" sz="6357" dirty="0">
              <a:solidFill>
                <a:srgbClr val="000000"/>
              </a:solidFill>
              <a:latin typeface="DM Sans"/>
              <a:ea typeface="DM Sans"/>
              <a:cs typeface="DM Sans"/>
              <a:sym typeface="DM Sans"/>
            </a:endParaRPr>
          </a:p>
        </p:txBody>
      </p:sp>
      <p:sp>
        <p:nvSpPr>
          <p:cNvPr id="9" name="TextBox 9">
            <a:extLst>
              <a:ext uri="{FF2B5EF4-FFF2-40B4-BE49-F238E27FC236}">
                <a16:creationId xmlns:a16="http://schemas.microsoft.com/office/drawing/2014/main" id="{07ACAF00-DAD1-1EE8-2CB4-DD720B7EE7AD}"/>
              </a:ext>
            </a:extLst>
          </p:cNvPr>
          <p:cNvSpPr txBox="1"/>
          <p:nvPr/>
        </p:nvSpPr>
        <p:spPr>
          <a:xfrm>
            <a:off x="4021453" y="2553733"/>
            <a:ext cx="11843184" cy="6559488"/>
          </a:xfrm>
          <a:prstGeom prst="rect">
            <a:avLst/>
          </a:prstGeom>
        </p:spPr>
        <p:txBody>
          <a:bodyPr lIns="0" tIns="0" rIns="0" bIns="0" rtlCol="0" anchor="t">
            <a:spAutoFit/>
          </a:bodyPr>
          <a:lstStyle/>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r>
              <a:rPr lang="en-US" sz="3200" dirty="0">
                <a:latin typeface="Times New Roman" panose="02020603050405020304" pitchFamily="18" charset="0"/>
                <a:cs typeface="Times New Roman" panose="02020603050405020304" pitchFamily="18" charset="0"/>
              </a:rPr>
              <a:t>The project follows these steps:</a:t>
            </a:r>
          </a:p>
          <a:p>
            <a:pPr marL="514350" indent="-514350">
              <a:lnSpc>
                <a:spcPct val="150000"/>
              </a:lnSpc>
              <a:buFont typeface="+mj-lt"/>
              <a:buAutoNum type="arabicParenR"/>
            </a:pPr>
            <a:r>
              <a:rPr lang="en-US" sz="3200" b="1" dirty="0">
                <a:latin typeface="Times New Roman" panose="02020603050405020304" pitchFamily="18" charset="0"/>
                <a:cs typeface="Times New Roman" panose="02020603050405020304" pitchFamily="18" charset="0"/>
              </a:rPr>
              <a:t>Data Collection</a:t>
            </a:r>
            <a:r>
              <a:rPr lang="en-US" sz="3200" dirty="0">
                <a:latin typeface="Times New Roman" panose="02020603050405020304" pitchFamily="18" charset="0"/>
                <a:cs typeface="Times New Roman" panose="02020603050405020304" pitchFamily="18" charset="0"/>
              </a:rPr>
              <a:t> – Gather student academic data.</a:t>
            </a:r>
          </a:p>
          <a:p>
            <a:pPr marL="514350" indent="-514350">
              <a:lnSpc>
                <a:spcPct val="150000"/>
              </a:lnSpc>
              <a:buFont typeface="+mj-lt"/>
              <a:buAutoNum type="arabicParenR"/>
            </a:pPr>
            <a:r>
              <a:rPr lang="en-US" sz="3200" b="1" dirty="0">
                <a:latin typeface="Times New Roman" panose="02020603050405020304" pitchFamily="18" charset="0"/>
                <a:cs typeface="Times New Roman" panose="02020603050405020304" pitchFamily="18" charset="0"/>
              </a:rPr>
              <a:t>Data Preprocessing</a:t>
            </a:r>
            <a:r>
              <a:rPr lang="en-US" sz="3200" dirty="0">
                <a:latin typeface="Times New Roman" panose="02020603050405020304" pitchFamily="18" charset="0"/>
                <a:cs typeface="Times New Roman" panose="02020603050405020304" pitchFamily="18" charset="0"/>
              </a:rPr>
              <a:t> – Handle missing values and clean data</a:t>
            </a:r>
          </a:p>
          <a:p>
            <a:pPr marL="514350" indent="-514350">
              <a:lnSpc>
                <a:spcPct val="150000"/>
              </a:lnSpc>
              <a:buFont typeface="+mj-lt"/>
              <a:buAutoNum type="arabicParenR"/>
            </a:pPr>
            <a:r>
              <a:rPr lang="en-IN" sz="3200" b="1" dirty="0">
                <a:latin typeface="Times New Roman" panose="02020603050405020304" pitchFamily="18" charset="0"/>
                <a:cs typeface="Times New Roman" panose="02020603050405020304" pitchFamily="18" charset="0"/>
              </a:rPr>
              <a:t>Feature Selection</a:t>
            </a:r>
            <a:r>
              <a:rPr lang="en-IN" sz="3200" dirty="0">
                <a:latin typeface="Times New Roman" panose="02020603050405020304" pitchFamily="18" charset="0"/>
                <a:cs typeface="Times New Roman" panose="02020603050405020304" pitchFamily="18" charset="0"/>
              </a:rPr>
              <a:t> – Select important attributes</a:t>
            </a:r>
          </a:p>
          <a:p>
            <a:pPr marL="514350" indent="-514350">
              <a:lnSpc>
                <a:spcPct val="150000"/>
              </a:lnSpc>
              <a:buFont typeface="+mj-lt"/>
              <a:buAutoNum type="arabicParenR"/>
            </a:pPr>
            <a:r>
              <a:rPr lang="en-US" sz="3200" b="1" dirty="0">
                <a:latin typeface="Times New Roman" panose="02020603050405020304" pitchFamily="18" charset="0"/>
                <a:cs typeface="Times New Roman" panose="02020603050405020304" pitchFamily="18" charset="0"/>
              </a:rPr>
              <a:t>Model Training</a:t>
            </a:r>
            <a:r>
              <a:rPr lang="en-US" sz="3200" dirty="0">
                <a:latin typeface="Times New Roman" panose="02020603050405020304" pitchFamily="18" charset="0"/>
                <a:cs typeface="Times New Roman" panose="02020603050405020304" pitchFamily="18" charset="0"/>
              </a:rPr>
              <a:t> – Train ML model using dataset</a:t>
            </a:r>
          </a:p>
          <a:p>
            <a:pPr marL="514350" indent="-514350">
              <a:lnSpc>
                <a:spcPct val="150000"/>
              </a:lnSpc>
              <a:buFont typeface="+mj-lt"/>
              <a:buAutoNum type="arabicParenR"/>
            </a:pPr>
            <a:r>
              <a:rPr lang="en-US" sz="3200" b="1" dirty="0">
                <a:latin typeface="Times New Roman" panose="02020603050405020304" pitchFamily="18" charset="0"/>
                <a:cs typeface="Times New Roman" panose="02020603050405020304" pitchFamily="18" charset="0"/>
              </a:rPr>
              <a:t>Model Evaluation</a:t>
            </a:r>
            <a:r>
              <a:rPr lang="en-US" sz="3200" dirty="0">
                <a:latin typeface="Times New Roman" panose="02020603050405020304" pitchFamily="18" charset="0"/>
                <a:cs typeface="Times New Roman" panose="02020603050405020304" pitchFamily="18" charset="0"/>
              </a:rPr>
              <a:t> – Measure performance using metrics</a:t>
            </a:r>
          </a:p>
          <a:p>
            <a:pPr marL="514350" indent="-514350">
              <a:lnSpc>
                <a:spcPct val="150000"/>
              </a:lnSpc>
              <a:buFont typeface="+mj-lt"/>
              <a:buAutoNum type="arabicParenR"/>
            </a:pPr>
            <a:r>
              <a:rPr lang="en-IN" sz="3200" b="1" dirty="0">
                <a:latin typeface="Times New Roman" panose="02020603050405020304" pitchFamily="18" charset="0"/>
                <a:cs typeface="Times New Roman" panose="02020603050405020304" pitchFamily="18" charset="0"/>
              </a:rPr>
              <a:t>Prediction</a:t>
            </a:r>
            <a:r>
              <a:rPr lang="en-IN" sz="3200" dirty="0">
                <a:latin typeface="Times New Roman" panose="02020603050405020304" pitchFamily="18" charset="0"/>
                <a:cs typeface="Times New Roman" panose="02020603050405020304" pitchFamily="18" charset="0"/>
              </a:rPr>
              <a:t> – Predict student performance</a:t>
            </a: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a:p>
            <a:pPr algn="l">
              <a:lnSpc>
                <a:spcPct val="150000"/>
              </a:lnSpc>
            </a:pP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extLst>
      <p:ext uri="{BB962C8B-B14F-4D97-AF65-F5344CB8AC3E}">
        <p14:creationId xmlns:p14="http://schemas.microsoft.com/office/powerpoint/2010/main" val="42982959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1028700" y="3118723"/>
            <a:ext cx="2602659" cy="81353"/>
            <a:chOff x="0" y="0"/>
            <a:chExt cx="2602662" cy="81356"/>
          </a:xfrm>
        </p:grpSpPr>
        <p:sp>
          <p:nvSpPr>
            <p:cNvPr id="7" name="Freeform 7"/>
            <p:cNvSpPr/>
            <p:nvPr/>
          </p:nvSpPr>
          <p:spPr>
            <a:xfrm>
              <a:off x="0" y="0"/>
              <a:ext cx="2602613" cy="81410"/>
            </a:xfrm>
            <a:custGeom>
              <a:avLst/>
              <a:gdLst/>
              <a:ahLst/>
              <a:cxnLst/>
              <a:rect l="l" t="t" r="r" b="b"/>
              <a:pathLst>
                <a:path w="2602613" h="81410">
                  <a:moveTo>
                    <a:pt x="0" y="0"/>
                  </a:moveTo>
                  <a:lnTo>
                    <a:pt x="0" y="81410"/>
                  </a:lnTo>
                  <a:lnTo>
                    <a:pt x="2602613" y="81410"/>
                  </a:lnTo>
                  <a:lnTo>
                    <a:pt x="2602613" y="0"/>
                  </a:lnTo>
                  <a:close/>
                </a:path>
              </a:pathLst>
            </a:custGeom>
            <a:solidFill>
              <a:srgbClr val="F8BC00"/>
            </a:solidFill>
          </p:spPr>
        </p:sp>
      </p:grpSp>
      <p:sp>
        <p:nvSpPr>
          <p:cNvPr id="8" name="TextBox 8"/>
          <p:cNvSpPr txBox="1"/>
          <p:nvPr/>
        </p:nvSpPr>
        <p:spPr>
          <a:xfrm>
            <a:off x="1036074" y="2142558"/>
            <a:ext cx="6307055" cy="776175"/>
          </a:xfrm>
          <a:prstGeom prst="rect">
            <a:avLst/>
          </a:prstGeom>
        </p:spPr>
        <p:txBody>
          <a:bodyPr wrap="square" lIns="0" tIns="0" rIns="0" bIns="0" rtlCol="0" anchor="t">
            <a:spAutoFit/>
          </a:bodyPr>
          <a:lstStyle/>
          <a:p>
            <a:pPr>
              <a:lnSpc>
                <a:spcPts val="5597"/>
              </a:lnSpc>
            </a:pPr>
            <a:r>
              <a:rPr lang="en-IN" sz="6600" dirty="0"/>
              <a:t>Implementation</a:t>
            </a:r>
            <a:endParaRPr lang="en-US" sz="6569" dirty="0">
              <a:solidFill>
                <a:srgbClr val="000000"/>
              </a:solidFill>
              <a:latin typeface="DM Sans"/>
              <a:ea typeface="DM Sans"/>
              <a:cs typeface="DM Sans"/>
              <a:sym typeface="DM Sans"/>
            </a:endParaRPr>
          </a:p>
        </p:txBody>
      </p:sp>
      <p:sp>
        <p:nvSpPr>
          <p:cNvPr id="9" name="TextBox 9"/>
          <p:cNvSpPr txBox="1"/>
          <p:nvPr/>
        </p:nvSpPr>
        <p:spPr>
          <a:xfrm>
            <a:off x="3124200" y="3400120"/>
            <a:ext cx="13602243" cy="5820824"/>
          </a:xfrm>
          <a:prstGeom prst="rect">
            <a:avLst/>
          </a:prstGeom>
        </p:spPr>
        <p:txBody>
          <a:bodyPr lIns="0" tIns="0" rIns="0" bIns="0" rtlCol="0" anchor="t">
            <a:spAutoFit/>
          </a:bodyPr>
          <a:lstStyle/>
          <a:p>
            <a:pPr algn="just">
              <a:lnSpc>
                <a:spcPct val="150000"/>
              </a:lnSpc>
            </a:pPr>
            <a:endParaRPr sz="3200" dirty="0">
              <a:latin typeface="Times New Roman" panose="02020603050405020304" pitchFamily="18" charset="0"/>
              <a:cs typeface="Times New Roman" panose="02020603050405020304" pitchFamily="18" charset="0"/>
            </a:endParaRPr>
          </a:p>
          <a:p>
            <a:pPr marL="474981" lvl="1" indent="-237491" algn="just">
              <a:lnSpc>
                <a:spcPct val="150000"/>
              </a:lnSpc>
              <a:buFont typeface="Arial"/>
              <a:buChar char="•"/>
            </a:pPr>
            <a:r>
              <a:rPr lang="en-IN" sz="3200" dirty="0">
                <a:latin typeface="Times New Roman" panose="02020603050405020304" pitchFamily="18" charset="0"/>
                <a:cs typeface="Times New Roman" panose="02020603050405020304" pitchFamily="18" charset="0"/>
              </a:rPr>
              <a:t>Programming Language: Python</a:t>
            </a:r>
            <a:endParaRPr lang="en-US" sz="3200" spc="33" dirty="0">
              <a:solidFill>
                <a:srgbClr val="000000"/>
              </a:solidFill>
              <a:latin typeface="Times New Roman" panose="02020603050405020304" pitchFamily="18" charset="0"/>
              <a:ea typeface="DM Sans"/>
              <a:cs typeface="Times New Roman" panose="02020603050405020304" pitchFamily="18" charset="0"/>
              <a:sym typeface="DM Sans"/>
            </a:endParaRPr>
          </a:p>
          <a:p>
            <a:pPr marL="474981" lvl="1" indent="-237491" algn="just">
              <a:lnSpc>
                <a:spcPct val="150000"/>
              </a:lnSpc>
              <a:buFont typeface="Arial"/>
              <a:buChar char="•"/>
            </a:pPr>
            <a:r>
              <a:rPr lang="en-US" sz="3200" dirty="0">
                <a:latin typeface="Times New Roman" panose="02020603050405020304" pitchFamily="18" charset="0"/>
                <a:cs typeface="Times New Roman" panose="02020603050405020304" pitchFamily="18" charset="0"/>
              </a:rPr>
              <a:t>Libraries Used: Pandas, NumPy, Scikit-learn, Matplotlib</a:t>
            </a:r>
            <a:endParaRPr lang="en-US" sz="3200" spc="33" dirty="0">
              <a:solidFill>
                <a:srgbClr val="000000"/>
              </a:solidFill>
              <a:latin typeface="Times New Roman" panose="02020603050405020304" pitchFamily="18" charset="0"/>
              <a:ea typeface="DM Sans"/>
              <a:cs typeface="Times New Roman" panose="02020603050405020304" pitchFamily="18" charset="0"/>
              <a:sym typeface="DM Sans"/>
            </a:endParaRPr>
          </a:p>
          <a:p>
            <a:pPr marL="474981" lvl="1" indent="-237491" algn="just">
              <a:lnSpc>
                <a:spcPct val="150000"/>
              </a:lnSpc>
              <a:buFont typeface="Arial"/>
              <a:buChar char="•"/>
            </a:pPr>
            <a:r>
              <a:rPr lang="en-IN" sz="3200" dirty="0">
                <a:latin typeface="Times New Roman" panose="02020603050405020304" pitchFamily="18" charset="0"/>
                <a:cs typeface="Times New Roman" panose="02020603050405020304" pitchFamily="18" charset="0"/>
              </a:rPr>
              <a:t>Platform: </a:t>
            </a:r>
            <a:r>
              <a:rPr lang="en-IN" sz="3200" dirty="0" err="1">
                <a:latin typeface="Times New Roman" panose="02020603050405020304" pitchFamily="18" charset="0"/>
                <a:cs typeface="Times New Roman" panose="02020603050405020304" pitchFamily="18" charset="0"/>
              </a:rPr>
              <a:t>Jupyter</a:t>
            </a:r>
            <a:r>
              <a:rPr lang="en-IN" sz="3200" dirty="0">
                <a:latin typeface="Times New Roman" panose="02020603050405020304" pitchFamily="18" charset="0"/>
                <a:cs typeface="Times New Roman" panose="02020603050405020304" pitchFamily="18" charset="0"/>
              </a:rPr>
              <a:t> Notebook</a:t>
            </a:r>
          </a:p>
          <a:p>
            <a:pPr marL="474981" lvl="1" indent="-237491" algn="just">
              <a:lnSpc>
                <a:spcPct val="150000"/>
              </a:lnSpc>
              <a:buFont typeface="Arial"/>
              <a:buChar char="•"/>
            </a:pPr>
            <a:r>
              <a:rPr lang="en-IN" sz="3200" dirty="0">
                <a:latin typeface="Times New Roman" panose="02020603050405020304" pitchFamily="18" charset="0"/>
                <a:cs typeface="Times New Roman" panose="02020603050405020304" pitchFamily="18" charset="0"/>
              </a:rPr>
              <a:t>Dataset: Student academic dataset</a:t>
            </a:r>
          </a:p>
          <a:p>
            <a:pPr marL="237490" lvl="1" algn="just">
              <a:lnSpc>
                <a:spcPct val="150000"/>
              </a:lnSpc>
            </a:pPr>
            <a:r>
              <a:rPr lang="en-US" sz="3200" dirty="0">
                <a:latin typeface="Times New Roman" panose="02020603050405020304" pitchFamily="18" charset="0"/>
                <a:cs typeface="Times New Roman" panose="02020603050405020304" pitchFamily="18" charset="0"/>
              </a:rPr>
              <a:t>The model is trained using historical student data and tested for prediction accuracy.</a:t>
            </a:r>
            <a:endParaRPr lang="en-US" sz="3200" spc="33" dirty="0">
              <a:solidFill>
                <a:srgbClr val="000000"/>
              </a:solidFill>
              <a:latin typeface="Times New Roman" panose="02020603050405020304" pitchFamily="18" charset="0"/>
              <a:ea typeface="DM Sans"/>
              <a:cs typeface="Times New Roman" panose="02020603050405020304" pitchFamily="18" charset="0"/>
              <a:sym typeface="DM Sans"/>
            </a:endParaRPr>
          </a:p>
          <a:p>
            <a:pPr algn="just">
              <a:lnSpc>
                <a:spcPct val="150000"/>
              </a:lnSpc>
            </a:pPr>
            <a:endParaRPr lang="en-US" sz="3200" spc="33"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1028700" y="3118723"/>
            <a:ext cx="2602659" cy="81353"/>
            <a:chOff x="0" y="0"/>
            <a:chExt cx="2602662" cy="81356"/>
          </a:xfrm>
        </p:grpSpPr>
        <p:sp>
          <p:nvSpPr>
            <p:cNvPr id="7" name="Freeform 7"/>
            <p:cNvSpPr/>
            <p:nvPr/>
          </p:nvSpPr>
          <p:spPr>
            <a:xfrm>
              <a:off x="0" y="0"/>
              <a:ext cx="2602613" cy="81410"/>
            </a:xfrm>
            <a:custGeom>
              <a:avLst/>
              <a:gdLst/>
              <a:ahLst/>
              <a:cxnLst/>
              <a:rect l="l" t="t" r="r" b="b"/>
              <a:pathLst>
                <a:path w="2602613" h="81410">
                  <a:moveTo>
                    <a:pt x="0" y="0"/>
                  </a:moveTo>
                  <a:lnTo>
                    <a:pt x="0" y="81410"/>
                  </a:lnTo>
                  <a:lnTo>
                    <a:pt x="2602613" y="81410"/>
                  </a:lnTo>
                  <a:lnTo>
                    <a:pt x="2602613" y="0"/>
                  </a:lnTo>
                  <a:close/>
                </a:path>
              </a:pathLst>
            </a:custGeom>
            <a:solidFill>
              <a:srgbClr val="F8BC00"/>
            </a:solidFill>
          </p:spPr>
        </p:sp>
      </p:grpSp>
      <p:sp>
        <p:nvSpPr>
          <p:cNvPr id="8" name="TextBox 8"/>
          <p:cNvSpPr txBox="1"/>
          <p:nvPr/>
        </p:nvSpPr>
        <p:spPr>
          <a:xfrm>
            <a:off x="912827" y="2142558"/>
            <a:ext cx="5754673" cy="776175"/>
          </a:xfrm>
          <a:prstGeom prst="rect">
            <a:avLst/>
          </a:prstGeom>
        </p:spPr>
        <p:txBody>
          <a:bodyPr wrap="square" lIns="0" tIns="0" rIns="0" bIns="0" rtlCol="0" anchor="t">
            <a:spAutoFit/>
          </a:bodyPr>
          <a:lstStyle/>
          <a:p>
            <a:pPr>
              <a:lnSpc>
                <a:spcPts val="5597"/>
              </a:lnSpc>
            </a:pPr>
            <a:r>
              <a:rPr lang="en-IN" sz="6600" dirty="0"/>
              <a:t>Program (Code)</a:t>
            </a:r>
            <a:endParaRPr lang="en-US" sz="656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8B40A219-1FD5-EEEA-76C5-8AA5859E3689}"/>
              </a:ext>
            </a:extLst>
          </p:cNvPr>
          <p:cNvSpPr txBox="1"/>
          <p:nvPr/>
        </p:nvSpPr>
        <p:spPr>
          <a:xfrm>
            <a:off x="3333750" y="3596016"/>
            <a:ext cx="13639800" cy="523220"/>
          </a:xfrm>
          <a:prstGeom prst="rect">
            <a:avLst/>
          </a:prstGeom>
          <a:noFill/>
        </p:spPr>
        <p:txBody>
          <a:bodyPr wrap="square" rtlCol="0">
            <a:spAutoFit/>
          </a:bodyPr>
          <a:lstStyle/>
          <a:p>
            <a:r>
              <a:rPr lang="en-IN" sz="2800" dirty="0"/>
              <a:t>Train Test Split :</a:t>
            </a:r>
            <a:endParaRPr lang="en-US" sz="2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6B32E73-CD2C-F47A-717E-F9C9EBB07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200" y="4528944"/>
            <a:ext cx="9296400" cy="1346973"/>
          </a:xfrm>
          <a:prstGeom prst="rect">
            <a:avLst/>
          </a:prstGeom>
        </p:spPr>
      </p:pic>
      <p:sp>
        <p:nvSpPr>
          <p:cNvPr id="12" name="TextBox 11">
            <a:extLst>
              <a:ext uri="{FF2B5EF4-FFF2-40B4-BE49-F238E27FC236}">
                <a16:creationId xmlns:a16="http://schemas.microsoft.com/office/drawing/2014/main" id="{754F0B44-605F-50E7-FE59-6B1B29915265}"/>
              </a:ext>
            </a:extLst>
          </p:cNvPr>
          <p:cNvSpPr txBox="1"/>
          <p:nvPr/>
        </p:nvSpPr>
        <p:spPr>
          <a:xfrm>
            <a:off x="3333750" y="6253140"/>
            <a:ext cx="5630811" cy="523220"/>
          </a:xfrm>
          <a:prstGeom prst="rect">
            <a:avLst/>
          </a:prstGeom>
          <a:noFill/>
        </p:spPr>
        <p:txBody>
          <a:bodyPr wrap="square" rtlCol="0">
            <a:spAutoFit/>
          </a:bodyPr>
          <a:lstStyle/>
          <a:p>
            <a:r>
              <a:rPr lang="en-IN" sz="2800" dirty="0"/>
              <a:t>Model Training (Linear Regression):</a:t>
            </a:r>
          </a:p>
        </p:txBody>
      </p:sp>
      <p:pic>
        <p:nvPicPr>
          <p:cNvPr id="16" name="Picture 15">
            <a:extLst>
              <a:ext uri="{FF2B5EF4-FFF2-40B4-BE49-F238E27FC236}">
                <a16:creationId xmlns:a16="http://schemas.microsoft.com/office/drawing/2014/main" id="{A182D13F-2096-38F3-B0E3-7EA158C33E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29200" y="7076420"/>
            <a:ext cx="9296400" cy="2433964"/>
          </a:xfrm>
          <a:prstGeom prst="rect">
            <a:avLst/>
          </a:prstGeom>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F5DE-9417-3B9C-9DC2-FEBC5B1F26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1DD6CA-1159-23E3-4748-4E30F99FE3FD}"/>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1AB652B8-C6A2-B0F0-EC88-3A60951464B3}"/>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C7D19530-E3DB-FCDC-27C0-CF86118EF50B}"/>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19301DAA-BF5E-98E1-F99A-976064840326}"/>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DABAC88D-E923-840A-5D07-062022838EF4}"/>
              </a:ext>
            </a:extLst>
          </p:cNvPr>
          <p:cNvGrpSpPr/>
          <p:nvPr/>
        </p:nvGrpSpPr>
        <p:grpSpPr>
          <a:xfrm>
            <a:off x="1028700" y="3118723"/>
            <a:ext cx="2602659" cy="81353"/>
            <a:chOff x="0" y="0"/>
            <a:chExt cx="2602662" cy="81356"/>
          </a:xfrm>
        </p:grpSpPr>
        <p:sp>
          <p:nvSpPr>
            <p:cNvPr id="7" name="Freeform 7">
              <a:extLst>
                <a:ext uri="{FF2B5EF4-FFF2-40B4-BE49-F238E27FC236}">
                  <a16:creationId xmlns:a16="http://schemas.microsoft.com/office/drawing/2014/main" id="{5B247A13-A7AD-BC10-65EC-0620521A675A}"/>
                </a:ext>
              </a:extLst>
            </p:cNvPr>
            <p:cNvSpPr/>
            <p:nvPr/>
          </p:nvSpPr>
          <p:spPr>
            <a:xfrm>
              <a:off x="0" y="0"/>
              <a:ext cx="2602613" cy="81410"/>
            </a:xfrm>
            <a:custGeom>
              <a:avLst/>
              <a:gdLst/>
              <a:ahLst/>
              <a:cxnLst/>
              <a:rect l="l" t="t" r="r" b="b"/>
              <a:pathLst>
                <a:path w="2602613" h="81410">
                  <a:moveTo>
                    <a:pt x="0" y="0"/>
                  </a:moveTo>
                  <a:lnTo>
                    <a:pt x="0" y="81410"/>
                  </a:lnTo>
                  <a:lnTo>
                    <a:pt x="2602613" y="81410"/>
                  </a:lnTo>
                  <a:lnTo>
                    <a:pt x="2602613" y="0"/>
                  </a:lnTo>
                  <a:close/>
                </a:path>
              </a:pathLst>
            </a:custGeom>
            <a:solidFill>
              <a:srgbClr val="F8BC00"/>
            </a:solidFill>
          </p:spPr>
        </p:sp>
      </p:grpSp>
      <p:sp>
        <p:nvSpPr>
          <p:cNvPr id="8" name="TextBox 8">
            <a:extLst>
              <a:ext uri="{FF2B5EF4-FFF2-40B4-BE49-F238E27FC236}">
                <a16:creationId xmlns:a16="http://schemas.microsoft.com/office/drawing/2014/main" id="{76693877-8201-B06D-B287-A9431FC79E5B}"/>
              </a:ext>
            </a:extLst>
          </p:cNvPr>
          <p:cNvSpPr txBox="1"/>
          <p:nvPr/>
        </p:nvSpPr>
        <p:spPr>
          <a:xfrm>
            <a:off x="912827" y="2142558"/>
            <a:ext cx="5754673" cy="776175"/>
          </a:xfrm>
          <a:prstGeom prst="rect">
            <a:avLst/>
          </a:prstGeom>
        </p:spPr>
        <p:txBody>
          <a:bodyPr wrap="square" lIns="0" tIns="0" rIns="0" bIns="0" rtlCol="0" anchor="t">
            <a:spAutoFit/>
          </a:bodyPr>
          <a:lstStyle/>
          <a:p>
            <a:pPr>
              <a:lnSpc>
                <a:spcPts val="5597"/>
              </a:lnSpc>
            </a:pPr>
            <a:r>
              <a:rPr lang="en-IN" sz="6600" dirty="0"/>
              <a:t>Program (Code)</a:t>
            </a:r>
            <a:endParaRPr lang="en-US" sz="656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EE5BC437-3160-B473-1CE0-32DD7A6B9995}"/>
              </a:ext>
            </a:extLst>
          </p:cNvPr>
          <p:cNvSpPr txBox="1"/>
          <p:nvPr/>
        </p:nvSpPr>
        <p:spPr>
          <a:xfrm>
            <a:off x="3962400" y="3733800"/>
            <a:ext cx="5410200" cy="523220"/>
          </a:xfrm>
          <a:prstGeom prst="rect">
            <a:avLst/>
          </a:prstGeom>
          <a:noFill/>
        </p:spPr>
        <p:txBody>
          <a:bodyPr wrap="square" rtlCol="0">
            <a:spAutoFit/>
          </a:bodyPr>
          <a:lstStyle/>
          <a:p>
            <a:r>
              <a:rPr lang="en-IN" sz="2800" dirty="0"/>
              <a:t>Prediction :</a:t>
            </a:r>
          </a:p>
        </p:txBody>
      </p:sp>
      <p:pic>
        <p:nvPicPr>
          <p:cNvPr id="11" name="Picture 10">
            <a:extLst>
              <a:ext uri="{FF2B5EF4-FFF2-40B4-BE49-F238E27FC236}">
                <a16:creationId xmlns:a16="http://schemas.microsoft.com/office/drawing/2014/main" id="{36942231-D6BD-7B7A-C884-1F714D3E1B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466" y="4456183"/>
            <a:ext cx="6610348" cy="840965"/>
          </a:xfrm>
          <a:prstGeom prst="rect">
            <a:avLst/>
          </a:prstGeom>
        </p:spPr>
      </p:pic>
      <p:sp>
        <p:nvSpPr>
          <p:cNvPr id="12" name="TextBox 11">
            <a:extLst>
              <a:ext uri="{FF2B5EF4-FFF2-40B4-BE49-F238E27FC236}">
                <a16:creationId xmlns:a16="http://schemas.microsoft.com/office/drawing/2014/main" id="{7CADFC76-C188-6CF6-9FB7-28BF6BDB4219}"/>
              </a:ext>
            </a:extLst>
          </p:cNvPr>
          <p:cNvSpPr txBox="1"/>
          <p:nvPr/>
        </p:nvSpPr>
        <p:spPr>
          <a:xfrm>
            <a:off x="4186084" y="5676900"/>
            <a:ext cx="4119716" cy="523220"/>
          </a:xfrm>
          <a:prstGeom prst="rect">
            <a:avLst/>
          </a:prstGeom>
          <a:noFill/>
        </p:spPr>
        <p:txBody>
          <a:bodyPr wrap="square" rtlCol="0">
            <a:spAutoFit/>
          </a:bodyPr>
          <a:lstStyle/>
          <a:p>
            <a:r>
              <a:rPr lang="en-IN" sz="2800" dirty="0"/>
              <a:t>Model Evaluation :</a:t>
            </a:r>
          </a:p>
        </p:txBody>
      </p:sp>
      <p:pic>
        <p:nvPicPr>
          <p:cNvPr id="14" name="Picture 13">
            <a:extLst>
              <a:ext uri="{FF2B5EF4-FFF2-40B4-BE49-F238E27FC236}">
                <a16:creationId xmlns:a16="http://schemas.microsoft.com/office/drawing/2014/main" id="{EC8B9245-764F-937E-DDFA-3910EBDC9F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7465" y="6303777"/>
            <a:ext cx="6610349" cy="1840665"/>
          </a:xfrm>
          <a:prstGeom prst="rect">
            <a:avLst/>
          </a:prstGeom>
        </p:spPr>
      </p:pic>
    </p:spTree>
    <p:extLst>
      <p:ext uri="{BB962C8B-B14F-4D97-AF65-F5344CB8AC3E}">
        <p14:creationId xmlns:p14="http://schemas.microsoft.com/office/powerpoint/2010/main" val="1462549944"/>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79BB4-C320-7DA1-D792-E224B8970D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0C8518-AE87-BF04-2504-31EBF85135D8}"/>
              </a:ext>
            </a:extLst>
          </p:cNvPr>
          <p:cNvGrpSpPr/>
          <p:nvPr/>
        </p:nvGrpSpPr>
        <p:grpSpPr>
          <a:xfrm rot="-10800000">
            <a:off x="11677583" y="0"/>
            <a:ext cx="6610350" cy="3857625"/>
            <a:chOff x="0" y="0"/>
            <a:chExt cx="8813800" cy="5143500"/>
          </a:xfrm>
        </p:grpSpPr>
        <p:sp>
          <p:nvSpPr>
            <p:cNvPr id="3" name="Freeform 3">
              <a:extLst>
                <a:ext uri="{FF2B5EF4-FFF2-40B4-BE49-F238E27FC236}">
                  <a16:creationId xmlns:a16="http://schemas.microsoft.com/office/drawing/2014/main" id="{4B4FF226-61F6-4078-C553-5E280BF7C3B4}"/>
                </a:ext>
              </a:extLst>
            </p:cNvPr>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a:extLst>
              <a:ext uri="{FF2B5EF4-FFF2-40B4-BE49-F238E27FC236}">
                <a16:creationId xmlns:a16="http://schemas.microsoft.com/office/drawing/2014/main" id="{BCB377F9-0E26-4B88-A18D-0762C971747B}"/>
              </a:ext>
            </a:extLst>
          </p:cNvPr>
          <p:cNvGrpSpPr/>
          <p:nvPr/>
        </p:nvGrpSpPr>
        <p:grpSpPr>
          <a:xfrm>
            <a:off x="0" y="6553200"/>
            <a:ext cx="6667500" cy="3733800"/>
            <a:chOff x="0" y="0"/>
            <a:chExt cx="8890000" cy="4978400"/>
          </a:xfrm>
        </p:grpSpPr>
        <p:sp>
          <p:nvSpPr>
            <p:cNvPr id="5" name="Freeform 5">
              <a:extLst>
                <a:ext uri="{FF2B5EF4-FFF2-40B4-BE49-F238E27FC236}">
                  <a16:creationId xmlns:a16="http://schemas.microsoft.com/office/drawing/2014/main" id="{B98E60D0-2990-6543-34DD-2E8CC54B4077}"/>
                </a:ext>
              </a:extLst>
            </p:cNvPr>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a:extLst>
              <a:ext uri="{FF2B5EF4-FFF2-40B4-BE49-F238E27FC236}">
                <a16:creationId xmlns:a16="http://schemas.microsoft.com/office/drawing/2014/main" id="{D77CF2B3-F081-A7CC-B1FC-1B4CB0C9B2C7}"/>
              </a:ext>
            </a:extLst>
          </p:cNvPr>
          <p:cNvGrpSpPr/>
          <p:nvPr/>
        </p:nvGrpSpPr>
        <p:grpSpPr>
          <a:xfrm>
            <a:off x="1028700" y="3118723"/>
            <a:ext cx="2602659" cy="81353"/>
            <a:chOff x="0" y="0"/>
            <a:chExt cx="2602662" cy="81356"/>
          </a:xfrm>
        </p:grpSpPr>
        <p:sp>
          <p:nvSpPr>
            <p:cNvPr id="7" name="Freeform 7">
              <a:extLst>
                <a:ext uri="{FF2B5EF4-FFF2-40B4-BE49-F238E27FC236}">
                  <a16:creationId xmlns:a16="http://schemas.microsoft.com/office/drawing/2014/main" id="{6735E396-7AEA-C923-7644-73B19DB580F4}"/>
                </a:ext>
              </a:extLst>
            </p:cNvPr>
            <p:cNvSpPr/>
            <p:nvPr/>
          </p:nvSpPr>
          <p:spPr>
            <a:xfrm>
              <a:off x="0" y="0"/>
              <a:ext cx="2602613" cy="81410"/>
            </a:xfrm>
            <a:custGeom>
              <a:avLst/>
              <a:gdLst/>
              <a:ahLst/>
              <a:cxnLst/>
              <a:rect l="l" t="t" r="r" b="b"/>
              <a:pathLst>
                <a:path w="2602613" h="81410">
                  <a:moveTo>
                    <a:pt x="0" y="0"/>
                  </a:moveTo>
                  <a:lnTo>
                    <a:pt x="0" y="81410"/>
                  </a:lnTo>
                  <a:lnTo>
                    <a:pt x="2602613" y="81410"/>
                  </a:lnTo>
                  <a:lnTo>
                    <a:pt x="2602613" y="0"/>
                  </a:lnTo>
                  <a:close/>
                </a:path>
              </a:pathLst>
            </a:custGeom>
            <a:solidFill>
              <a:srgbClr val="F8BC00"/>
            </a:solidFill>
          </p:spPr>
        </p:sp>
      </p:grpSp>
      <p:sp>
        <p:nvSpPr>
          <p:cNvPr id="8" name="TextBox 8">
            <a:extLst>
              <a:ext uri="{FF2B5EF4-FFF2-40B4-BE49-F238E27FC236}">
                <a16:creationId xmlns:a16="http://schemas.microsoft.com/office/drawing/2014/main" id="{FF839109-C4FC-B1F5-75CF-B626C8BEF041}"/>
              </a:ext>
            </a:extLst>
          </p:cNvPr>
          <p:cNvSpPr txBox="1"/>
          <p:nvPr/>
        </p:nvSpPr>
        <p:spPr>
          <a:xfrm>
            <a:off x="912827" y="2142558"/>
            <a:ext cx="8231173" cy="776175"/>
          </a:xfrm>
          <a:prstGeom prst="rect">
            <a:avLst/>
          </a:prstGeom>
        </p:spPr>
        <p:txBody>
          <a:bodyPr wrap="square" lIns="0" tIns="0" rIns="0" bIns="0" rtlCol="0" anchor="t">
            <a:spAutoFit/>
          </a:bodyPr>
          <a:lstStyle/>
          <a:p>
            <a:pPr>
              <a:lnSpc>
                <a:spcPts val="5597"/>
              </a:lnSpc>
            </a:pPr>
            <a:r>
              <a:rPr lang="en-IN" sz="6600" dirty="0"/>
              <a:t>Results and Analysis</a:t>
            </a:r>
            <a:endParaRPr lang="en-US" sz="6569" dirty="0">
              <a:solidFill>
                <a:srgbClr val="000000"/>
              </a:solidFill>
              <a:latin typeface="DM Sans"/>
              <a:ea typeface="DM Sans"/>
              <a:cs typeface="DM Sans"/>
              <a:sym typeface="DM Sans"/>
            </a:endParaRPr>
          </a:p>
        </p:txBody>
      </p:sp>
      <p:sp>
        <p:nvSpPr>
          <p:cNvPr id="9" name="TextBox 8">
            <a:extLst>
              <a:ext uri="{FF2B5EF4-FFF2-40B4-BE49-F238E27FC236}">
                <a16:creationId xmlns:a16="http://schemas.microsoft.com/office/drawing/2014/main" id="{266CC8D2-37E3-8A61-3F62-58305D4772CD}"/>
              </a:ext>
            </a:extLst>
          </p:cNvPr>
          <p:cNvSpPr txBox="1"/>
          <p:nvPr/>
        </p:nvSpPr>
        <p:spPr>
          <a:xfrm>
            <a:off x="3962400" y="3857626"/>
            <a:ext cx="4495800" cy="584775"/>
          </a:xfrm>
          <a:prstGeom prst="rect">
            <a:avLst/>
          </a:prstGeom>
          <a:noFill/>
        </p:spPr>
        <p:txBody>
          <a:bodyPr wrap="square" rtlCol="0">
            <a:spAutoFit/>
          </a:bodyPr>
          <a:lstStyle/>
          <a:p>
            <a:r>
              <a:rPr lang="en-US" sz="3200" dirty="0"/>
              <a:t>Out Put:</a:t>
            </a:r>
            <a:endParaRPr lang="en-IN" sz="3200" dirty="0"/>
          </a:p>
        </p:txBody>
      </p:sp>
      <p:pic>
        <p:nvPicPr>
          <p:cNvPr id="11" name="Picture 10">
            <a:extLst>
              <a:ext uri="{FF2B5EF4-FFF2-40B4-BE49-F238E27FC236}">
                <a16:creationId xmlns:a16="http://schemas.microsoft.com/office/drawing/2014/main" id="{DB2D491E-780D-1DDE-0646-B235F21CCC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3371" y="4533900"/>
            <a:ext cx="4422150" cy="911640"/>
          </a:xfrm>
          <a:prstGeom prst="rect">
            <a:avLst/>
          </a:prstGeom>
        </p:spPr>
      </p:pic>
      <p:pic>
        <p:nvPicPr>
          <p:cNvPr id="13" name="Picture 12">
            <a:extLst>
              <a:ext uri="{FF2B5EF4-FFF2-40B4-BE49-F238E27FC236}">
                <a16:creationId xmlns:a16="http://schemas.microsoft.com/office/drawing/2014/main" id="{621786E9-3807-21D6-1859-C66BD7ADD6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3371" y="5829301"/>
            <a:ext cx="5758029" cy="3429000"/>
          </a:xfrm>
          <a:prstGeom prst="rect">
            <a:avLst/>
          </a:prstGeom>
        </p:spPr>
      </p:pic>
    </p:spTree>
    <p:extLst>
      <p:ext uri="{BB962C8B-B14F-4D97-AF65-F5344CB8AC3E}">
        <p14:creationId xmlns:p14="http://schemas.microsoft.com/office/powerpoint/2010/main" val="2775498260"/>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1028700" y="2387022"/>
            <a:ext cx="3130153" cy="97841"/>
            <a:chOff x="0" y="0"/>
            <a:chExt cx="3130156" cy="97841"/>
          </a:xfrm>
        </p:grpSpPr>
        <p:sp>
          <p:nvSpPr>
            <p:cNvPr id="7" name="Freeform 7"/>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p:cNvSpPr txBox="1"/>
          <p:nvPr/>
        </p:nvSpPr>
        <p:spPr>
          <a:xfrm>
            <a:off x="1028700" y="1624126"/>
            <a:ext cx="7649802" cy="756938"/>
          </a:xfrm>
          <a:prstGeom prst="rect">
            <a:avLst/>
          </a:prstGeom>
        </p:spPr>
        <p:txBody>
          <a:bodyPr wrap="square" lIns="0" tIns="0" rIns="0" bIns="0" rtlCol="0" anchor="t">
            <a:spAutoFit/>
          </a:bodyPr>
          <a:lstStyle/>
          <a:p>
            <a:pPr>
              <a:lnSpc>
                <a:spcPts val="5353"/>
              </a:lnSpc>
            </a:pPr>
            <a:r>
              <a:rPr lang="en-IN" sz="6600" dirty="0"/>
              <a:t>Results &amp; Analysis</a:t>
            </a:r>
            <a:endParaRPr lang="en-US" sz="6015" dirty="0">
              <a:solidFill>
                <a:srgbClr val="000000"/>
              </a:solidFill>
              <a:latin typeface="DM Sans"/>
              <a:ea typeface="DM Sans"/>
              <a:cs typeface="DM Sans"/>
              <a:sym typeface="DM Sans"/>
            </a:endParaRPr>
          </a:p>
        </p:txBody>
      </p:sp>
      <p:sp>
        <p:nvSpPr>
          <p:cNvPr id="9" name="TextBox 9"/>
          <p:cNvSpPr txBox="1"/>
          <p:nvPr/>
        </p:nvSpPr>
        <p:spPr>
          <a:xfrm>
            <a:off x="3830896" y="3034254"/>
            <a:ext cx="11843184" cy="5082160"/>
          </a:xfrm>
          <a:prstGeom prst="rect">
            <a:avLst/>
          </a:prstGeom>
        </p:spPr>
        <p:txBody>
          <a:bodyPr lIns="0" tIns="0" rIns="0" bIns="0" rtlCol="0" anchor="t">
            <a:spAutoFit/>
          </a:bodyPr>
          <a:lstStyle/>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The model successfully predicts student scores.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Performance is evaluated using metrics such as:</a:t>
            </a:r>
          </a:p>
          <a:p>
            <a:pPr marL="237489" lvl="1">
              <a:lnSpc>
                <a:spcPct val="150000"/>
              </a:lnSpc>
            </a:pPr>
            <a:r>
              <a:rPr lang="en-US" sz="3200" dirty="0">
                <a:solidFill>
                  <a:srgbClr val="000000"/>
                </a:solidFill>
                <a:latin typeface="Times New Roman" panose="02020603050405020304" pitchFamily="18" charset="0"/>
                <a:ea typeface="DM Sans"/>
                <a:cs typeface="Times New Roman" panose="02020603050405020304" pitchFamily="18" charset="0"/>
                <a:sym typeface="DM Sans"/>
              </a:rPr>
              <a:t>	1)</a:t>
            </a:r>
            <a:r>
              <a:rPr lang="en-IN" sz="3200" dirty="0">
                <a:latin typeface="Times New Roman" panose="02020603050405020304" pitchFamily="18" charset="0"/>
                <a:cs typeface="Times New Roman" panose="02020603050405020304" pitchFamily="18" charset="0"/>
              </a:rPr>
              <a:t> Accuracy</a:t>
            </a:r>
          </a:p>
          <a:p>
            <a:pPr marL="237489" lvl="1">
              <a:lnSpc>
                <a:spcPct val="150000"/>
              </a:lnSpc>
            </a:pPr>
            <a:r>
              <a:rPr lang="en-IN" sz="3200" dirty="0">
                <a:solidFill>
                  <a:srgbClr val="000000"/>
                </a:solidFill>
                <a:latin typeface="Times New Roman" panose="02020603050405020304" pitchFamily="18" charset="0"/>
                <a:ea typeface="DM Sans"/>
                <a:cs typeface="Times New Roman" panose="02020603050405020304" pitchFamily="18" charset="0"/>
                <a:sym typeface="DM Sans"/>
              </a:rPr>
              <a:t>        2)</a:t>
            </a:r>
            <a:r>
              <a:rPr lang="en-IN" sz="3200" dirty="0">
                <a:latin typeface="Times New Roman" panose="02020603050405020304" pitchFamily="18" charset="0"/>
                <a:cs typeface="Times New Roman" panose="02020603050405020304" pitchFamily="18" charset="0"/>
              </a:rPr>
              <a:t> Mean Squared Error (MSE)</a:t>
            </a: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Graphs are plotted to compare predicted and actual results.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The system helps identify students who need academic support</a:t>
            </a:r>
            <a:r>
              <a:rPr lang="en-US" sz="3200" dirty="0">
                <a:solidFill>
                  <a:srgbClr val="000000"/>
                </a:solidFill>
                <a:latin typeface="Times New Roman" panose="02020603050405020304" pitchFamily="18" charset="0"/>
                <a:ea typeface="DM Sans"/>
                <a:cs typeface="Times New Roman" panose="02020603050405020304" pitchFamily="18" charset="0"/>
                <a:sym typeface="DM Sans"/>
              </a:rPr>
              <a:t>.</a:t>
            </a:r>
          </a:p>
          <a:p>
            <a:pPr algn="l">
              <a:lnSpc>
                <a:spcPct val="150000"/>
              </a:lnSpc>
            </a:pP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910652" y="2032877"/>
            <a:ext cx="3130153" cy="97841"/>
            <a:chOff x="0" y="0"/>
            <a:chExt cx="3130156" cy="97841"/>
          </a:xfrm>
        </p:grpSpPr>
        <p:sp>
          <p:nvSpPr>
            <p:cNvPr id="7" name="Freeform 7"/>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9" name="TextBox 9"/>
          <p:cNvSpPr txBox="1"/>
          <p:nvPr/>
        </p:nvSpPr>
        <p:spPr>
          <a:xfrm>
            <a:off x="1028700" y="510883"/>
            <a:ext cx="4818073" cy="1432252"/>
          </a:xfrm>
          <a:prstGeom prst="rect">
            <a:avLst/>
          </a:prstGeom>
        </p:spPr>
        <p:txBody>
          <a:bodyPr lIns="0" tIns="0" rIns="0" bIns="0" rtlCol="0" anchor="t">
            <a:spAutoFit/>
          </a:bodyPr>
          <a:lstStyle/>
          <a:p>
            <a:pPr algn="l">
              <a:lnSpc>
                <a:spcPts val="5353"/>
              </a:lnSpc>
            </a:pPr>
            <a:r>
              <a:rPr lang="en-US" sz="6015" dirty="0">
                <a:solidFill>
                  <a:srgbClr val="000000"/>
                </a:solidFill>
                <a:latin typeface="DM Sans"/>
                <a:ea typeface="DM Sans"/>
                <a:cs typeface="DM Sans"/>
                <a:sym typeface="DM Sans"/>
              </a:rPr>
              <a:t>Block</a:t>
            </a:r>
          </a:p>
          <a:p>
            <a:pPr algn="l">
              <a:lnSpc>
                <a:spcPts val="5353"/>
              </a:lnSpc>
            </a:pPr>
            <a:r>
              <a:rPr lang="en-US" sz="6015" dirty="0">
                <a:solidFill>
                  <a:srgbClr val="000000"/>
                </a:solidFill>
                <a:latin typeface="DM Sans"/>
                <a:ea typeface="DM Sans"/>
                <a:cs typeface="DM Sans"/>
                <a:sym typeface="DM Sans"/>
              </a:rPr>
              <a:t>diagram</a:t>
            </a: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1677583" y="0"/>
            <a:ext cx="6610350" cy="3857625"/>
            <a:chOff x="0" y="0"/>
            <a:chExt cx="8813800" cy="5143500"/>
          </a:xfrm>
        </p:grpSpPr>
        <p:sp>
          <p:nvSpPr>
            <p:cNvPr id="3" name="Freeform 3"/>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2"/>
              <a:stretch>
                <a:fillRect l="-7835" t="-81" r="-3692" b="-7325"/>
              </a:stretch>
            </a:blipFill>
          </p:spPr>
        </p:sp>
      </p:grpSp>
      <p:grpSp>
        <p:nvGrpSpPr>
          <p:cNvPr id="4" name="Group 4"/>
          <p:cNvGrpSpPr/>
          <p:nvPr/>
        </p:nvGrpSpPr>
        <p:grpSpPr>
          <a:xfrm>
            <a:off x="0" y="6553200"/>
            <a:ext cx="6667500" cy="3733800"/>
            <a:chOff x="0" y="0"/>
            <a:chExt cx="8890000" cy="4978400"/>
          </a:xfrm>
        </p:grpSpPr>
        <p:sp>
          <p:nvSpPr>
            <p:cNvPr id="5" name="Freeform 5"/>
            <p:cNvSpPr/>
            <p:nvPr/>
          </p:nvSpPr>
          <p:spPr>
            <a:xfrm>
              <a:off x="0" y="0"/>
              <a:ext cx="8890000" cy="4978400"/>
            </a:xfrm>
            <a:custGeom>
              <a:avLst/>
              <a:gdLst/>
              <a:ahLst/>
              <a:cxnLst/>
              <a:rect l="l" t="t" r="r" b="b"/>
              <a:pathLst>
                <a:path w="8890000" h="4978400">
                  <a:moveTo>
                    <a:pt x="0" y="0"/>
                  </a:moveTo>
                  <a:lnTo>
                    <a:pt x="8890000" y="0"/>
                  </a:lnTo>
                  <a:lnTo>
                    <a:pt x="8890000" y="4978400"/>
                  </a:lnTo>
                  <a:lnTo>
                    <a:pt x="0" y="4978400"/>
                  </a:lnTo>
                  <a:lnTo>
                    <a:pt x="0" y="0"/>
                  </a:lnTo>
                  <a:close/>
                </a:path>
              </a:pathLst>
            </a:custGeom>
            <a:blipFill>
              <a:blip r:embed="rId2"/>
              <a:stretch>
                <a:fillRect l="-2788" r="-68" b="-3316"/>
              </a:stretch>
            </a:blipFill>
          </p:spPr>
        </p:sp>
      </p:grpSp>
      <p:grpSp>
        <p:nvGrpSpPr>
          <p:cNvPr id="6" name="Group 6"/>
          <p:cNvGrpSpPr/>
          <p:nvPr/>
        </p:nvGrpSpPr>
        <p:grpSpPr>
          <a:xfrm>
            <a:off x="918326" y="1993747"/>
            <a:ext cx="3130153" cy="97841"/>
            <a:chOff x="0" y="0"/>
            <a:chExt cx="3130156" cy="97841"/>
          </a:xfrm>
        </p:grpSpPr>
        <p:sp>
          <p:nvSpPr>
            <p:cNvPr id="7" name="Freeform 7"/>
            <p:cNvSpPr/>
            <p:nvPr/>
          </p:nvSpPr>
          <p:spPr>
            <a:xfrm>
              <a:off x="0" y="0"/>
              <a:ext cx="3130169" cy="97789"/>
            </a:xfrm>
            <a:custGeom>
              <a:avLst/>
              <a:gdLst/>
              <a:ahLst/>
              <a:cxnLst/>
              <a:rect l="l" t="t" r="r" b="b"/>
              <a:pathLst>
                <a:path w="3130169" h="97789">
                  <a:moveTo>
                    <a:pt x="0" y="0"/>
                  </a:moveTo>
                  <a:lnTo>
                    <a:pt x="3130169" y="0"/>
                  </a:lnTo>
                  <a:lnTo>
                    <a:pt x="3130169" y="97789"/>
                  </a:lnTo>
                  <a:lnTo>
                    <a:pt x="0" y="97789"/>
                  </a:lnTo>
                  <a:close/>
                </a:path>
              </a:pathLst>
            </a:custGeom>
            <a:solidFill>
              <a:srgbClr val="F8BC00"/>
            </a:solidFill>
          </p:spPr>
        </p:sp>
      </p:grpSp>
      <p:sp>
        <p:nvSpPr>
          <p:cNvPr id="8" name="TextBox 8"/>
          <p:cNvSpPr txBox="1"/>
          <p:nvPr/>
        </p:nvSpPr>
        <p:spPr>
          <a:xfrm>
            <a:off x="918326" y="1219200"/>
            <a:ext cx="4274753" cy="774547"/>
          </a:xfrm>
          <a:prstGeom prst="rect">
            <a:avLst/>
          </a:prstGeom>
        </p:spPr>
        <p:txBody>
          <a:bodyPr lIns="0" tIns="0" rIns="0" bIns="0" rtlCol="0" anchor="t">
            <a:spAutoFit/>
          </a:bodyPr>
          <a:lstStyle/>
          <a:p>
            <a:pPr algn="l">
              <a:lnSpc>
                <a:spcPts val="5658"/>
              </a:lnSpc>
            </a:pPr>
            <a:r>
              <a:rPr lang="en-US" sz="6357">
                <a:solidFill>
                  <a:srgbClr val="000000"/>
                </a:solidFill>
                <a:latin typeface="DM Sans"/>
                <a:ea typeface="DM Sans"/>
                <a:cs typeface="DM Sans"/>
                <a:sym typeface="DM Sans"/>
              </a:rPr>
              <a:t>Conclusion</a:t>
            </a:r>
          </a:p>
        </p:txBody>
      </p:sp>
      <p:sp>
        <p:nvSpPr>
          <p:cNvPr id="9" name="TextBox 9"/>
          <p:cNvSpPr txBox="1"/>
          <p:nvPr/>
        </p:nvSpPr>
        <p:spPr>
          <a:xfrm>
            <a:off x="3505200" y="3399003"/>
            <a:ext cx="11843184" cy="5082160"/>
          </a:xfrm>
          <a:prstGeom prst="rect">
            <a:avLst/>
          </a:prstGeom>
        </p:spPr>
        <p:txBody>
          <a:bodyPr lIns="0" tIns="0" rIns="0" bIns="0" rtlCol="0" anchor="t">
            <a:spAutoFit/>
          </a:bodyPr>
          <a:lstStyle/>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The Machine Learning model effectively predicts student performance.</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It helps teachers take early corrective actions.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The system can be improved by using advanced algorithms and larger datasets</a:t>
            </a:r>
          </a:p>
          <a:p>
            <a:pPr marL="474979" lvl="1" indent="-237490">
              <a:lnSpc>
                <a:spcPct val="150000"/>
              </a:lnSpc>
              <a:buFont typeface="Arial"/>
              <a:buChar char="•"/>
            </a:pPr>
            <a:r>
              <a:rPr lang="en-US" sz="3200" dirty="0">
                <a:latin typeface="Times New Roman" panose="02020603050405020304" pitchFamily="18" charset="0"/>
                <a:cs typeface="Times New Roman" panose="02020603050405020304" pitchFamily="18" charset="0"/>
              </a:rPr>
              <a:t>This project demonstrates the practical application of Machine Learning in education.</a:t>
            </a: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7504547"/>
            <a:ext cx="4970164" cy="2781300"/>
            <a:chOff x="0" y="0"/>
            <a:chExt cx="6626885" cy="3708400"/>
          </a:xfrm>
        </p:grpSpPr>
        <p:sp>
          <p:nvSpPr>
            <p:cNvPr id="3" name="Freeform 3"/>
            <p:cNvSpPr/>
            <p:nvPr/>
          </p:nvSpPr>
          <p:spPr>
            <a:xfrm>
              <a:off x="0" y="0"/>
              <a:ext cx="6626860" cy="3708400"/>
            </a:xfrm>
            <a:custGeom>
              <a:avLst/>
              <a:gdLst/>
              <a:ahLst/>
              <a:cxnLst/>
              <a:rect l="l" t="t" r="r" b="b"/>
              <a:pathLst>
                <a:path w="6626860" h="3708400">
                  <a:moveTo>
                    <a:pt x="0" y="0"/>
                  </a:moveTo>
                  <a:lnTo>
                    <a:pt x="6626860" y="0"/>
                  </a:lnTo>
                  <a:lnTo>
                    <a:pt x="6626860" y="3708400"/>
                  </a:lnTo>
                  <a:lnTo>
                    <a:pt x="0" y="3708400"/>
                  </a:lnTo>
                  <a:lnTo>
                    <a:pt x="0" y="0"/>
                  </a:lnTo>
                  <a:close/>
                </a:path>
              </a:pathLst>
            </a:custGeom>
            <a:blipFill>
              <a:blip r:embed="rId2"/>
              <a:stretch>
                <a:fillRect l="-1187" b="-2397"/>
              </a:stretch>
            </a:blipFill>
          </p:spPr>
        </p:sp>
      </p:grpSp>
      <p:sp>
        <p:nvSpPr>
          <p:cNvPr id="4" name="Freeform 4"/>
          <p:cNvSpPr/>
          <p:nvPr/>
        </p:nvSpPr>
        <p:spPr>
          <a:xfrm>
            <a:off x="4970164" y="3160690"/>
            <a:ext cx="7314905" cy="1982810"/>
          </a:xfrm>
          <a:custGeom>
            <a:avLst/>
            <a:gdLst/>
            <a:ahLst/>
            <a:cxnLst/>
            <a:rect l="l" t="t" r="r" b="b"/>
            <a:pathLst>
              <a:path w="7314905" h="1982810">
                <a:moveTo>
                  <a:pt x="0" y="0"/>
                </a:moveTo>
                <a:lnTo>
                  <a:pt x="7314905" y="0"/>
                </a:lnTo>
                <a:lnTo>
                  <a:pt x="7314905" y="1982810"/>
                </a:lnTo>
                <a:lnTo>
                  <a:pt x="0" y="19828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5" name="Group 5"/>
          <p:cNvGrpSpPr/>
          <p:nvPr/>
        </p:nvGrpSpPr>
        <p:grpSpPr>
          <a:xfrm rot="-10800000">
            <a:off x="11677650" y="0"/>
            <a:ext cx="6610350" cy="3857625"/>
            <a:chOff x="0" y="0"/>
            <a:chExt cx="8813800" cy="5143500"/>
          </a:xfrm>
        </p:grpSpPr>
        <p:sp>
          <p:nvSpPr>
            <p:cNvPr id="6" name="Freeform 6"/>
            <p:cNvSpPr/>
            <p:nvPr/>
          </p:nvSpPr>
          <p:spPr>
            <a:xfrm>
              <a:off x="0" y="0"/>
              <a:ext cx="8813800" cy="5143500"/>
            </a:xfrm>
            <a:custGeom>
              <a:avLst/>
              <a:gdLst/>
              <a:ahLst/>
              <a:cxnLst/>
              <a:rect l="l" t="t" r="r" b="b"/>
              <a:pathLst>
                <a:path w="8813800" h="5143500">
                  <a:moveTo>
                    <a:pt x="0" y="0"/>
                  </a:moveTo>
                  <a:lnTo>
                    <a:pt x="8813800" y="0"/>
                  </a:lnTo>
                  <a:lnTo>
                    <a:pt x="8813800" y="5143500"/>
                  </a:lnTo>
                  <a:lnTo>
                    <a:pt x="0" y="5143500"/>
                  </a:lnTo>
                  <a:lnTo>
                    <a:pt x="0" y="0"/>
                  </a:lnTo>
                  <a:close/>
                </a:path>
              </a:pathLst>
            </a:custGeom>
            <a:blipFill>
              <a:blip r:embed="rId5"/>
              <a:stretch>
                <a:fillRect l="-7835" t="-81" r="-3692" b="-732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568</Words>
  <Application>Microsoft Office PowerPoint</Application>
  <PresentationFormat>Custom</PresentationFormat>
  <Paragraphs>100</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DM Sans Bold</vt:lpstr>
      <vt:lpstr>Times New Roman</vt:lpstr>
      <vt:lpstr>Arial</vt:lpstr>
      <vt:lpstr>DM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p2bl_review1_team5</dc:title>
  <dc:creator>Harish.M.Y</dc:creator>
  <cp:lastModifiedBy>Jeevanantham S</cp:lastModifiedBy>
  <cp:revision>3</cp:revision>
  <dcterms:created xsi:type="dcterms:W3CDTF">2006-08-16T00:00:00Z</dcterms:created>
  <dcterms:modified xsi:type="dcterms:W3CDTF">2026-02-27T18:53:14Z</dcterms:modified>
  <dc:identifier>DAHBrmGMRYM</dc:identifier>
</cp:coreProperties>
</file>